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bookmarkIdSeed="3">
  <p:sldMasterIdLst>
    <p:sldMasterId id="2147483708" r:id="rId1"/>
  </p:sldMasterIdLst>
  <p:notesMasterIdLst>
    <p:notesMasterId r:id="rId29"/>
  </p:notesMasterIdLst>
  <p:sldIdLst>
    <p:sldId id="256" r:id="rId2"/>
    <p:sldId id="257" r:id="rId3"/>
    <p:sldId id="258" r:id="rId4"/>
    <p:sldId id="259" r:id="rId5"/>
    <p:sldId id="260" r:id="rId6"/>
    <p:sldId id="261" r:id="rId7"/>
    <p:sldId id="262" r:id="rId8"/>
    <p:sldId id="274" r:id="rId9"/>
    <p:sldId id="275" r:id="rId10"/>
    <p:sldId id="276" r:id="rId11"/>
    <p:sldId id="277" r:id="rId12"/>
    <p:sldId id="278" r:id="rId13"/>
    <p:sldId id="280" r:id="rId14"/>
    <p:sldId id="284" r:id="rId15"/>
    <p:sldId id="285" r:id="rId16"/>
    <p:sldId id="270" r:id="rId17"/>
    <p:sldId id="271" r:id="rId18"/>
    <p:sldId id="272" r:id="rId19"/>
    <p:sldId id="281" r:id="rId20"/>
    <p:sldId id="282" r:id="rId21"/>
    <p:sldId id="283" r:id="rId22"/>
    <p:sldId id="273" r:id="rId23"/>
    <p:sldId id="263" r:id="rId24"/>
    <p:sldId id="266" r:id="rId25"/>
    <p:sldId id="264" r:id="rId26"/>
    <p:sldId id="265" r:id="rId27"/>
    <p:sldId id="268" r:id="rId28"/>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6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p:scale>
          <a:sx n="90" d="100"/>
          <a:sy n="90" d="100"/>
        </p:scale>
        <p:origin x="-1234" y="-58"/>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IN"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B81BABC0-3F01-4922-8AFF-DDE18DAFE427}" type="datetimeFigureOut">
              <a:rPr lang="en-IN" smtClean="0"/>
              <a:pPr/>
              <a:t>02-05-2021</a:t>
            </a:fld>
            <a:endParaRPr lang="en-IN" dirty="0"/>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IN"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IN"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0F4B923-6F5D-4504-BC7E-7701E46A1979}" type="slidenum">
              <a:rPr lang="en-IN" smtClean="0"/>
              <a:pPr/>
              <a:t>‹#›</a:t>
            </a:fld>
            <a:endParaRPr lang="en-IN" dirty="0"/>
          </a:p>
        </p:txBody>
      </p:sp>
    </p:spTree>
    <p:extLst>
      <p:ext uri="{BB962C8B-B14F-4D97-AF65-F5344CB8AC3E}">
        <p14:creationId xmlns:p14="http://schemas.microsoft.com/office/powerpoint/2010/main" val="257302832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2000" cy="3429000"/>
          </a:xfrm>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B0F4B923-6F5D-4504-BC7E-7701E46A1979}" type="slidenum">
              <a:rPr lang="en-IN" smtClean="0"/>
              <a:pPr/>
              <a:t>26</a:t>
            </a:fld>
            <a:endParaRPr lang="en-IN" dirty="0"/>
          </a:p>
        </p:txBody>
      </p:sp>
    </p:spTree>
    <p:extLst>
      <p:ext uri="{BB962C8B-B14F-4D97-AF65-F5344CB8AC3E}">
        <p14:creationId xmlns:p14="http://schemas.microsoft.com/office/powerpoint/2010/main" val="67146883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6"/>
            <a:ext cx="7772400" cy="1470025"/>
          </a:xfrm>
        </p:spPr>
        <p:txBody>
          <a:bodyPr/>
          <a:lstStyle/>
          <a:p>
            <a:r>
              <a:rPr lang="en-US" smtClean="0"/>
              <a:t>Click to edit Master title style</a:t>
            </a:r>
            <a:endParaRPr lang="en-IN"/>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IN"/>
          </a:p>
        </p:txBody>
      </p:sp>
      <p:sp>
        <p:nvSpPr>
          <p:cNvPr id="4" name="Date Placeholder 3"/>
          <p:cNvSpPr>
            <a:spLocks noGrp="1"/>
          </p:cNvSpPr>
          <p:nvPr>
            <p:ph type="dt" sz="half" idx="10"/>
          </p:nvPr>
        </p:nvSpPr>
        <p:spPr/>
        <p:txBody>
          <a:bodyPr/>
          <a:lstStyle/>
          <a:p>
            <a:fld id="{1B966E24-8BA3-4929-9772-5AB4202AC0B4}" type="datetimeFigureOut">
              <a:rPr lang="en-IN" smtClean="0"/>
              <a:pPr/>
              <a:t>02-05-2021</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83CD83D0-B45C-4C9A-86E0-BBCB757792E6}" type="slidenum">
              <a:rPr lang="en-IN" smtClean="0"/>
              <a:pPr/>
              <a:t>‹#›</a:t>
            </a:fld>
            <a:endParaRPr lang="en-IN"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1B966E24-8BA3-4929-9772-5AB4202AC0B4}" type="datetimeFigureOut">
              <a:rPr lang="en-IN" smtClean="0"/>
              <a:pPr/>
              <a:t>02-05-2021</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83CD83D0-B45C-4C9A-86E0-BBCB757792E6}" type="slidenum">
              <a:rPr lang="en-IN" smtClean="0"/>
              <a:pPr/>
              <a:t>‹#›</a:t>
            </a:fld>
            <a:endParaRPr lang="en-IN"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IN"/>
          </a:p>
        </p:txBody>
      </p:sp>
      <p:sp>
        <p:nvSpPr>
          <p:cNvPr id="3" name="Text Placeholder 2"/>
          <p:cNvSpPr>
            <a:spLocks noGrp="1"/>
          </p:cNvSpPr>
          <p:nvPr>
            <p:ph type="body" idx="1"/>
          </p:nvPr>
        </p:nvSpPr>
        <p:spPr>
          <a:xfrm>
            <a:off x="722313" y="2906714"/>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B966E24-8BA3-4929-9772-5AB4202AC0B4}" type="datetimeFigureOut">
              <a:rPr lang="en-IN" smtClean="0"/>
              <a:pPr/>
              <a:t>02-05-2021</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83CD83D0-B45C-4C9A-86E0-BBCB757792E6}" type="slidenum">
              <a:rPr lang="en-IN" smtClean="0"/>
              <a:pPr/>
              <a:t>‹#›</a:t>
            </a:fld>
            <a:endParaRPr lang="en-IN"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sz="half" idx="1"/>
          </p:nvPr>
        </p:nvSpPr>
        <p:spPr>
          <a:xfrm>
            <a:off x="457200" y="1600201"/>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Content Placeholder 3"/>
          <p:cNvSpPr>
            <a:spLocks noGrp="1"/>
          </p:cNvSpPr>
          <p:nvPr>
            <p:ph sz="half" idx="2"/>
          </p:nvPr>
        </p:nvSpPr>
        <p:spPr>
          <a:xfrm>
            <a:off x="4648200" y="1600201"/>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Date Placeholder 4"/>
          <p:cNvSpPr>
            <a:spLocks noGrp="1"/>
          </p:cNvSpPr>
          <p:nvPr>
            <p:ph type="dt" sz="half" idx="10"/>
          </p:nvPr>
        </p:nvSpPr>
        <p:spPr/>
        <p:txBody>
          <a:bodyPr/>
          <a:lstStyle/>
          <a:p>
            <a:fld id="{1B966E24-8BA3-4929-9772-5AB4202AC0B4}" type="datetimeFigureOut">
              <a:rPr lang="en-IN" smtClean="0"/>
              <a:pPr/>
              <a:t>02-05-2021</a:t>
            </a:fld>
            <a:endParaRPr lang="en-IN" dirty="0"/>
          </a:p>
        </p:txBody>
      </p:sp>
      <p:sp>
        <p:nvSpPr>
          <p:cNvPr id="6" name="Footer Placeholder 5"/>
          <p:cNvSpPr>
            <a:spLocks noGrp="1"/>
          </p:cNvSpPr>
          <p:nvPr>
            <p:ph type="ftr" sz="quarter" idx="11"/>
          </p:nvPr>
        </p:nvSpPr>
        <p:spPr/>
        <p:txBody>
          <a:bodyPr/>
          <a:lstStyle/>
          <a:p>
            <a:endParaRPr lang="en-IN" dirty="0"/>
          </a:p>
        </p:txBody>
      </p:sp>
      <p:sp>
        <p:nvSpPr>
          <p:cNvPr id="7" name="Slide Number Placeholder 6"/>
          <p:cNvSpPr>
            <a:spLocks noGrp="1"/>
          </p:cNvSpPr>
          <p:nvPr>
            <p:ph type="sldNum" sz="quarter" idx="12"/>
          </p:nvPr>
        </p:nvSpPr>
        <p:spPr/>
        <p:txBody>
          <a:bodyPr/>
          <a:lstStyle/>
          <a:p>
            <a:fld id="{83CD83D0-B45C-4C9A-86E0-BBCB757792E6}" type="slidenum">
              <a:rPr lang="en-IN" smtClean="0"/>
              <a:pPr/>
              <a:t>‹#›</a:t>
            </a:fld>
            <a:endParaRPr lang="en-IN"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IN"/>
          </a:p>
        </p:txBody>
      </p:sp>
      <p:sp>
        <p:nvSpPr>
          <p:cNvPr id="3" name="Text Placeholder 2"/>
          <p:cNvSpPr>
            <a:spLocks noGrp="1"/>
          </p:cNvSpPr>
          <p:nvPr>
            <p:ph type="body" idx="1"/>
          </p:nvPr>
        </p:nvSpPr>
        <p:spPr>
          <a:xfrm>
            <a:off x="457201"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1"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Text Placeholder 4"/>
          <p:cNvSpPr>
            <a:spLocks noGrp="1"/>
          </p:cNvSpPr>
          <p:nvPr>
            <p:ph type="body" sz="quarter" idx="3"/>
          </p:nvPr>
        </p:nvSpPr>
        <p:spPr>
          <a:xfrm>
            <a:off x="4645026"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6"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7" name="Date Placeholder 6"/>
          <p:cNvSpPr>
            <a:spLocks noGrp="1"/>
          </p:cNvSpPr>
          <p:nvPr>
            <p:ph type="dt" sz="half" idx="10"/>
          </p:nvPr>
        </p:nvSpPr>
        <p:spPr/>
        <p:txBody>
          <a:bodyPr/>
          <a:lstStyle/>
          <a:p>
            <a:fld id="{1B966E24-8BA3-4929-9772-5AB4202AC0B4}" type="datetimeFigureOut">
              <a:rPr lang="en-IN" smtClean="0"/>
              <a:pPr/>
              <a:t>02-05-2021</a:t>
            </a:fld>
            <a:endParaRPr lang="en-IN" dirty="0"/>
          </a:p>
        </p:txBody>
      </p:sp>
      <p:sp>
        <p:nvSpPr>
          <p:cNvPr id="8" name="Footer Placeholder 7"/>
          <p:cNvSpPr>
            <a:spLocks noGrp="1"/>
          </p:cNvSpPr>
          <p:nvPr>
            <p:ph type="ftr" sz="quarter" idx="11"/>
          </p:nvPr>
        </p:nvSpPr>
        <p:spPr/>
        <p:txBody>
          <a:bodyPr/>
          <a:lstStyle/>
          <a:p>
            <a:endParaRPr lang="en-IN" dirty="0"/>
          </a:p>
        </p:txBody>
      </p:sp>
      <p:sp>
        <p:nvSpPr>
          <p:cNvPr id="9" name="Slide Number Placeholder 8"/>
          <p:cNvSpPr>
            <a:spLocks noGrp="1"/>
          </p:cNvSpPr>
          <p:nvPr>
            <p:ph type="sldNum" sz="quarter" idx="12"/>
          </p:nvPr>
        </p:nvSpPr>
        <p:spPr/>
        <p:txBody>
          <a:bodyPr/>
          <a:lstStyle/>
          <a:p>
            <a:fld id="{83CD83D0-B45C-4C9A-86E0-BBCB757792E6}" type="slidenum">
              <a:rPr lang="en-IN" smtClean="0"/>
              <a:pPr/>
              <a:t>‹#›</a:t>
            </a:fld>
            <a:endParaRPr lang="en-IN"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Date Placeholder 2"/>
          <p:cNvSpPr>
            <a:spLocks noGrp="1"/>
          </p:cNvSpPr>
          <p:nvPr>
            <p:ph type="dt" sz="half" idx="10"/>
          </p:nvPr>
        </p:nvSpPr>
        <p:spPr/>
        <p:txBody>
          <a:bodyPr/>
          <a:lstStyle/>
          <a:p>
            <a:fld id="{1B966E24-8BA3-4929-9772-5AB4202AC0B4}" type="datetimeFigureOut">
              <a:rPr lang="en-IN" smtClean="0"/>
              <a:pPr/>
              <a:t>02-05-2021</a:t>
            </a:fld>
            <a:endParaRPr lang="en-IN" dirty="0"/>
          </a:p>
        </p:txBody>
      </p:sp>
      <p:sp>
        <p:nvSpPr>
          <p:cNvPr id="4" name="Footer Placeholder 3"/>
          <p:cNvSpPr>
            <a:spLocks noGrp="1"/>
          </p:cNvSpPr>
          <p:nvPr>
            <p:ph type="ftr" sz="quarter" idx="11"/>
          </p:nvPr>
        </p:nvSpPr>
        <p:spPr/>
        <p:txBody>
          <a:bodyPr/>
          <a:lstStyle/>
          <a:p>
            <a:endParaRPr lang="en-IN" dirty="0"/>
          </a:p>
        </p:txBody>
      </p:sp>
      <p:sp>
        <p:nvSpPr>
          <p:cNvPr id="5" name="Slide Number Placeholder 4"/>
          <p:cNvSpPr>
            <a:spLocks noGrp="1"/>
          </p:cNvSpPr>
          <p:nvPr>
            <p:ph type="sldNum" sz="quarter" idx="12"/>
          </p:nvPr>
        </p:nvSpPr>
        <p:spPr/>
        <p:txBody>
          <a:bodyPr/>
          <a:lstStyle/>
          <a:p>
            <a:fld id="{83CD83D0-B45C-4C9A-86E0-BBCB757792E6}" type="slidenum">
              <a:rPr lang="en-IN" smtClean="0"/>
              <a:pPr/>
              <a:t>‹#›</a:t>
            </a:fld>
            <a:endParaRPr lang="en-IN"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B966E24-8BA3-4929-9772-5AB4202AC0B4}" type="datetimeFigureOut">
              <a:rPr lang="en-IN" smtClean="0"/>
              <a:pPr/>
              <a:t>02-05-2021</a:t>
            </a:fld>
            <a:endParaRPr lang="en-IN" dirty="0"/>
          </a:p>
        </p:txBody>
      </p:sp>
      <p:sp>
        <p:nvSpPr>
          <p:cNvPr id="3" name="Footer Placeholder 2"/>
          <p:cNvSpPr>
            <a:spLocks noGrp="1"/>
          </p:cNvSpPr>
          <p:nvPr>
            <p:ph type="ftr" sz="quarter" idx="11"/>
          </p:nvPr>
        </p:nvSpPr>
        <p:spPr/>
        <p:txBody>
          <a:bodyPr/>
          <a:lstStyle/>
          <a:p>
            <a:endParaRPr lang="en-IN" dirty="0"/>
          </a:p>
        </p:txBody>
      </p:sp>
      <p:sp>
        <p:nvSpPr>
          <p:cNvPr id="4" name="Slide Number Placeholder 3"/>
          <p:cNvSpPr>
            <a:spLocks noGrp="1"/>
          </p:cNvSpPr>
          <p:nvPr>
            <p:ph type="sldNum" sz="quarter" idx="12"/>
          </p:nvPr>
        </p:nvSpPr>
        <p:spPr/>
        <p:txBody>
          <a:bodyPr/>
          <a:lstStyle/>
          <a:p>
            <a:fld id="{83CD83D0-B45C-4C9A-86E0-BBCB757792E6}" type="slidenum">
              <a:rPr lang="en-IN" smtClean="0"/>
              <a:pPr/>
              <a:t>‹#›</a:t>
            </a:fld>
            <a:endParaRPr lang="en-IN"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73050"/>
            <a:ext cx="3008313" cy="1162050"/>
          </a:xfrm>
        </p:spPr>
        <p:txBody>
          <a:bodyPr anchor="b"/>
          <a:lstStyle>
            <a:lvl1pPr algn="l">
              <a:defRPr sz="2000" b="1"/>
            </a:lvl1pPr>
          </a:lstStyle>
          <a:p>
            <a:r>
              <a:rPr lang="en-US" smtClean="0"/>
              <a:t>Click to edit Master title style</a:t>
            </a:r>
            <a:endParaRPr lang="en-IN"/>
          </a:p>
        </p:txBody>
      </p:sp>
      <p:sp>
        <p:nvSpPr>
          <p:cNvPr id="3" name="Content Placeholder 2"/>
          <p:cNvSpPr>
            <a:spLocks noGrp="1"/>
          </p:cNvSpPr>
          <p:nvPr>
            <p:ph idx="1"/>
          </p:nvPr>
        </p:nvSpPr>
        <p:spPr>
          <a:xfrm>
            <a:off x="3575050" y="273051"/>
            <a:ext cx="5111751"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Text Placeholder 3"/>
          <p:cNvSpPr>
            <a:spLocks noGrp="1"/>
          </p:cNvSpPr>
          <p:nvPr>
            <p:ph type="body" sz="half" idx="2"/>
          </p:nvPr>
        </p:nvSpPr>
        <p:spPr>
          <a:xfrm>
            <a:off x="457201" y="1435101"/>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B966E24-8BA3-4929-9772-5AB4202AC0B4}" type="datetimeFigureOut">
              <a:rPr lang="en-IN" smtClean="0"/>
              <a:pPr/>
              <a:t>02-05-2021</a:t>
            </a:fld>
            <a:endParaRPr lang="en-IN" dirty="0"/>
          </a:p>
        </p:txBody>
      </p:sp>
      <p:sp>
        <p:nvSpPr>
          <p:cNvPr id="6" name="Footer Placeholder 5"/>
          <p:cNvSpPr>
            <a:spLocks noGrp="1"/>
          </p:cNvSpPr>
          <p:nvPr>
            <p:ph type="ftr" sz="quarter" idx="11"/>
          </p:nvPr>
        </p:nvSpPr>
        <p:spPr/>
        <p:txBody>
          <a:bodyPr/>
          <a:lstStyle/>
          <a:p>
            <a:endParaRPr lang="en-IN" dirty="0"/>
          </a:p>
        </p:txBody>
      </p:sp>
      <p:sp>
        <p:nvSpPr>
          <p:cNvPr id="7" name="Slide Number Placeholder 6"/>
          <p:cNvSpPr>
            <a:spLocks noGrp="1"/>
          </p:cNvSpPr>
          <p:nvPr>
            <p:ph type="sldNum" sz="quarter" idx="12"/>
          </p:nvPr>
        </p:nvSpPr>
        <p:spPr/>
        <p:txBody>
          <a:bodyPr/>
          <a:lstStyle/>
          <a:p>
            <a:fld id="{83CD83D0-B45C-4C9A-86E0-BBCB757792E6}" type="slidenum">
              <a:rPr lang="en-IN" smtClean="0"/>
              <a:pPr/>
              <a:t>‹#›</a:t>
            </a:fld>
            <a:endParaRPr lang="en-IN"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1"/>
            <a:ext cx="5486400" cy="566738"/>
          </a:xfrm>
        </p:spPr>
        <p:txBody>
          <a:bodyPr anchor="b"/>
          <a:lstStyle>
            <a:lvl1pPr algn="l">
              <a:defRPr sz="2000" b="1"/>
            </a:lvl1pPr>
          </a:lstStyle>
          <a:p>
            <a:r>
              <a:rPr lang="en-US" smtClean="0"/>
              <a:t>Click to edit Master title style</a:t>
            </a:r>
            <a:endParaRPr lang="en-IN"/>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1792288" y="5367339"/>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B966E24-8BA3-4929-9772-5AB4202AC0B4}" type="datetimeFigureOut">
              <a:rPr lang="en-IN" smtClean="0"/>
              <a:pPr/>
              <a:t>02-05-2021</a:t>
            </a:fld>
            <a:endParaRPr lang="en-IN" dirty="0"/>
          </a:p>
        </p:txBody>
      </p:sp>
      <p:sp>
        <p:nvSpPr>
          <p:cNvPr id="6" name="Footer Placeholder 5"/>
          <p:cNvSpPr>
            <a:spLocks noGrp="1"/>
          </p:cNvSpPr>
          <p:nvPr>
            <p:ph type="ftr" sz="quarter" idx="11"/>
          </p:nvPr>
        </p:nvSpPr>
        <p:spPr/>
        <p:txBody>
          <a:bodyPr/>
          <a:lstStyle/>
          <a:p>
            <a:endParaRPr lang="en-IN" dirty="0"/>
          </a:p>
        </p:txBody>
      </p:sp>
      <p:sp>
        <p:nvSpPr>
          <p:cNvPr id="7" name="Slide Number Placeholder 6"/>
          <p:cNvSpPr>
            <a:spLocks noGrp="1"/>
          </p:cNvSpPr>
          <p:nvPr>
            <p:ph type="sldNum" sz="quarter" idx="12"/>
          </p:nvPr>
        </p:nvSpPr>
        <p:spPr/>
        <p:txBody>
          <a:bodyPr/>
          <a:lstStyle/>
          <a:p>
            <a:fld id="{83CD83D0-B45C-4C9A-86E0-BBCB757792E6}" type="slidenum">
              <a:rPr lang="en-IN" smtClean="0"/>
              <a:pPr/>
              <a:t>‹#›</a:t>
            </a:fld>
            <a:endParaRPr lang="en-IN"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1B966E24-8BA3-4929-9772-5AB4202AC0B4}" type="datetimeFigureOut">
              <a:rPr lang="en-IN" smtClean="0"/>
              <a:pPr/>
              <a:t>02-05-2021</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83CD83D0-B45C-4C9A-86E0-BBCB757792E6}" type="slidenum">
              <a:rPr lang="en-IN" smtClean="0"/>
              <a:pPr/>
              <a:t>‹#›</a:t>
            </a:fld>
            <a:endParaRPr lang="en-IN"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9"/>
            <a:ext cx="2057400" cy="5851525"/>
          </a:xfrm>
        </p:spPr>
        <p:txBody>
          <a:bodyPr vert="eaVert"/>
          <a:lstStyle/>
          <a:p>
            <a:r>
              <a:rPr lang="en-US" smtClean="0"/>
              <a:t>Click to edit Master title style</a:t>
            </a:r>
            <a:endParaRPr lang="en-IN"/>
          </a:p>
        </p:txBody>
      </p:sp>
      <p:sp>
        <p:nvSpPr>
          <p:cNvPr id="3" name="Vertical Text Placeholder 2"/>
          <p:cNvSpPr>
            <a:spLocks noGrp="1"/>
          </p:cNvSpPr>
          <p:nvPr>
            <p:ph type="body" orient="vert" idx="1"/>
          </p:nvPr>
        </p:nvSpPr>
        <p:spPr>
          <a:xfrm>
            <a:off x="457200" y="274639"/>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1B966E24-8BA3-4929-9772-5AB4202AC0B4}" type="datetimeFigureOut">
              <a:rPr lang="en-IN" smtClean="0"/>
              <a:pPr/>
              <a:t>02-05-2021</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83CD83D0-B45C-4C9A-86E0-BBCB757792E6}" type="slidenum">
              <a:rPr lang="en-IN" smtClean="0"/>
              <a:pPr/>
              <a:t>‹#›</a:t>
            </a:fld>
            <a:endParaRPr lang="en-IN"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IN"/>
          </a:p>
        </p:txBody>
      </p:sp>
      <p:sp>
        <p:nvSpPr>
          <p:cNvPr id="3" name="Text Placeholder 2"/>
          <p:cNvSpPr>
            <a:spLocks noGrp="1"/>
          </p:cNvSpPr>
          <p:nvPr>
            <p:ph type="body" idx="1"/>
          </p:nvPr>
        </p:nvSpPr>
        <p:spPr>
          <a:xfrm>
            <a:off x="457200" y="1600201"/>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2"/>
          </p:nvPr>
        </p:nvSpPr>
        <p:spPr>
          <a:xfrm>
            <a:off x="457200" y="6356351"/>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B966E24-8BA3-4929-9772-5AB4202AC0B4}" type="datetimeFigureOut">
              <a:rPr lang="en-IN" smtClean="0"/>
              <a:pPr/>
              <a:t>02-05-2021</a:t>
            </a:fld>
            <a:endParaRPr lang="en-IN" dirty="0"/>
          </a:p>
        </p:txBody>
      </p:sp>
      <p:sp>
        <p:nvSpPr>
          <p:cNvPr id="5" name="Footer Placeholder 4"/>
          <p:cNvSpPr>
            <a:spLocks noGrp="1"/>
          </p:cNvSpPr>
          <p:nvPr>
            <p:ph type="ftr" sz="quarter" idx="3"/>
          </p:nvPr>
        </p:nvSpPr>
        <p:spPr>
          <a:xfrm>
            <a:off x="3124200" y="6356351"/>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dirty="0"/>
          </a:p>
        </p:txBody>
      </p:sp>
      <p:sp>
        <p:nvSpPr>
          <p:cNvPr id="6" name="Slide Number Placeholder 5"/>
          <p:cNvSpPr>
            <a:spLocks noGrp="1"/>
          </p:cNvSpPr>
          <p:nvPr>
            <p:ph type="sldNum" sz="quarter" idx="4"/>
          </p:nvPr>
        </p:nvSpPr>
        <p:spPr>
          <a:xfrm>
            <a:off x="6553200" y="6356351"/>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3CD83D0-B45C-4C9A-86E0-BBCB757792E6}" type="slidenum">
              <a:rPr lang="en-IN" smtClean="0"/>
              <a:pPr/>
              <a:t>‹#›</a:t>
            </a:fld>
            <a:endParaRPr lang="en-IN" dirty="0"/>
          </a:p>
        </p:txBody>
      </p:sp>
    </p:spTree>
  </p:cSld>
  <p:clrMap bg1="lt1" tx1="dk1" bg2="lt2" tx2="dk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 id="214748371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jpeg"/><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jpg"/><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6.png"/><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6.xml"/><Relationship Id="rId6" Type="http://schemas.openxmlformats.org/officeDocument/2006/relationships/hyperlink" Target="http://www.ncbi.nlm.nlh.gov/" TargetMode="External"/><Relationship Id="rId5" Type="http://schemas.openxmlformats.org/officeDocument/2006/relationships/hyperlink" Target="http://www.ijstr.org/" TargetMode="External"/><Relationship Id="rId4" Type="http://schemas.openxmlformats.org/officeDocument/2006/relationships/hyperlink" Target="http://www.projecthub.com/" TargetMode="Externa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95536" y="188641"/>
            <a:ext cx="7772400" cy="1614041"/>
          </a:xfrm>
        </p:spPr>
        <p:txBody>
          <a:bodyPr>
            <a:normAutofit fontScale="90000"/>
          </a:bodyPr>
          <a:lstStyle/>
          <a:p>
            <a:r>
              <a:rPr lang="en-US" altLang="en-US" sz="2800" b="1" dirty="0" smtClean="0">
                <a:cs typeface="Tahoma" pitchFamily="34" charset="0"/>
              </a:rPr>
              <a:t>              </a:t>
            </a:r>
            <a:br>
              <a:rPr lang="en-US" altLang="en-US" sz="2800" b="1" dirty="0" smtClean="0">
                <a:cs typeface="Tahoma" pitchFamily="34" charset="0"/>
              </a:rPr>
            </a:br>
            <a:r>
              <a:rPr lang="en-US" altLang="en-US" sz="2800" b="1" dirty="0">
                <a:cs typeface="Tahoma" pitchFamily="34" charset="0"/>
              </a:rPr>
              <a:t> </a:t>
            </a:r>
            <a:r>
              <a:rPr lang="en-US" altLang="en-US" sz="2800" b="1" dirty="0" smtClean="0">
                <a:cs typeface="Tahoma" pitchFamily="34" charset="0"/>
              </a:rPr>
              <a:t>      </a:t>
            </a:r>
            <a:br>
              <a:rPr lang="en-US" altLang="en-US" sz="2800" b="1" dirty="0" smtClean="0">
                <a:cs typeface="Tahoma" pitchFamily="34" charset="0"/>
              </a:rPr>
            </a:br>
            <a:r>
              <a:rPr lang="en-US" altLang="en-US" sz="2800" b="1" dirty="0" smtClean="0">
                <a:cs typeface="Tahoma" pitchFamily="34" charset="0"/>
              </a:rPr>
              <a:t>               Sinhgad College of Engineering, Pune – 41.</a:t>
            </a:r>
            <a:br>
              <a:rPr lang="en-US" altLang="en-US" sz="2800" b="1" dirty="0" smtClean="0">
                <a:cs typeface="Tahoma" pitchFamily="34" charset="0"/>
              </a:rPr>
            </a:br>
            <a:r>
              <a:rPr lang="en-US" altLang="en-US" sz="2800" b="1" dirty="0" smtClean="0">
                <a:cs typeface="Tahoma" pitchFamily="34" charset="0"/>
              </a:rPr>
              <a:t>                </a:t>
            </a:r>
            <a:r>
              <a:rPr lang="en-US" altLang="en-US" sz="2800" b="1" i="1" dirty="0" smtClean="0">
                <a:cs typeface="Times New Roman" pitchFamily="18" charset="0"/>
              </a:rPr>
              <a:t>Department of Electronics &amp;Telecommunication Engineering</a:t>
            </a:r>
            <a:br>
              <a:rPr lang="en-US" altLang="en-US" sz="2800" b="1" i="1" dirty="0" smtClean="0">
                <a:cs typeface="Times New Roman" pitchFamily="18" charset="0"/>
              </a:rPr>
            </a:br>
            <a:r>
              <a:rPr lang="en-US" altLang="en-US" sz="2800" b="1" dirty="0" smtClean="0">
                <a:cs typeface="Tahoma" pitchFamily="34" charset="0"/>
              </a:rPr>
              <a:t/>
            </a:r>
            <a:br>
              <a:rPr lang="en-US" altLang="en-US" sz="2800" b="1" dirty="0" smtClean="0">
                <a:cs typeface="Tahoma" pitchFamily="34" charset="0"/>
              </a:rPr>
            </a:br>
            <a:endParaRPr lang="en-IN" sz="2800" dirty="0"/>
          </a:p>
        </p:txBody>
      </p:sp>
      <p:pic>
        <p:nvPicPr>
          <p:cNvPr id="5" name="Picture 4"/>
          <p:cNvPicPr>
            <a:picLocks noChangeAspect="1" noChangeArrowheads="1"/>
          </p:cNvPicPr>
          <p:nvPr/>
        </p:nvPicPr>
        <p:blipFill>
          <a:blip r:embed="rId2">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395537" y="404665"/>
            <a:ext cx="1181100" cy="1168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TextBox 5"/>
          <p:cNvSpPr txBox="1"/>
          <p:nvPr/>
        </p:nvSpPr>
        <p:spPr>
          <a:xfrm>
            <a:off x="899592" y="2060848"/>
            <a:ext cx="7488832" cy="4462760"/>
          </a:xfrm>
          <a:prstGeom prst="rect">
            <a:avLst/>
          </a:prstGeom>
          <a:ln>
            <a:noFill/>
          </a:ln>
        </p:spPr>
        <p:style>
          <a:lnRef idx="2">
            <a:schemeClr val="dk1"/>
          </a:lnRef>
          <a:fillRef idx="1">
            <a:schemeClr val="lt1"/>
          </a:fillRef>
          <a:effectRef idx="0">
            <a:schemeClr val="dk1"/>
          </a:effectRef>
          <a:fontRef idx="minor">
            <a:schemeClr val="dk1"/>
          </a:fontRef>
        </p:style>
        <p:txBody>
          <a:bodyPr wrap="square" rtlCol="0">
            <a:spAutoFit/>
          </a:bodyPr>
          <a:lstStyle/>
          <a:p>
            <a:r>
              <a:rPr lang="en-IN" sz="2800" b="1" dirty="0" smtClean="0"/>
              <a:t>Life Health Band – Health Monitoring System For       Elderly People.</a:t>
            </a:r>
          </a:p>
          <a:p>
            <a:pPr algn="just"/>
            <a:endParaRPr lang="en-IN" sz="2000" b="1" dirty="0" smtClean="0"/>
          </a:p>
          <a:p>
            <a:pPr algn="just"/>
            <a:r>
              <a:rPr lang="en-IN" sz="2000" b="1" dirty="0" smtClean="0"/>
              <a:t>      Group No- 31</a:t>
            </a:r>
          </a:p>
          <a:p>
            <a:pPr algn="just"/>
            <a:endParaRPr lang="en-IN" sz="2000" b="1" dirty="0" smtClean="0"/>
          </a:p>
          <a:p>
            <a:pPr algn="just"/>
            <a:r>
              <a:rPr lang="en-IN" sz="1400" b="1" dirty="0" smtClean="0"/>
              <a:t>           </a:t>
            </a:r>
            <a:r>
              <a:rPr lang="en-IN" b="1" dirty="0" smtClean="0"/>
              <a:t> By-</a:t>
            </a:r>
          </a:p>
          <a:p>
            <a:pPr algn="just"/>
            <a:r>
              <a:rPr lang="en-IN" dirty="0" smtClean="0"/>
              <a:t>          1. Piyusha Prakash Patil . (404B045)</a:t>
            </a:r>
          </a:p>
          <a:p>
            <a:pPr algn="just"/>
            <a:r>
              <a:rPr lang="en-IN" dirty="0" smtClean="0"/>
              <a:t>          2. Ishwarya Rajendra Kamble. (404B015)</a:t>
            </a:r>
          </a:p>
          <a:p>
            <a:pPr algn="just"/>
            <a:r>
              <a:rPr lang="en-IN" dirty="0" smtClean="0"/>
              <a:t>          3. Atish Gajanan Pawar. (404B049)</a:t>
            </a:r>
          </a:p>
          <a:p>
            <a:pPr algn="just"/>
            <a:endParaRPr lang="en-IN" dirty="0" smtClean="0"/>
          </a:p>
          <a:p>
            <a:pPr algn="just"/>
            <a:endParaRPr lang="en-IN" dirty="0" smtClean="0"/>
          </a:p>
          <a:p>
            <a:pPr algn="just"/>
            <a:r>
              <a:rPr lang="en-IN" b="1" dirty="0" smtClean="0"/>
              <a:t>          Under the Guidance -  </a:t>
            </a:r>
            <a:r>
              <a:rPr lang="en-IN" dirty="0" smtClean="0"/>
              <a:t>Prof (Mrs.) V .G. Raut  Mam                                </a:t>
            </a:r>
          </a:p>
          <a:p>
            <a:endParaRPr lang="en-IN" sz="1400" b="1" dirty="0" smtClean="0"/>
          </a:p>
          <a:p>
            <a:endParaRPr lang="en-IN" sz="1400" b="1" dirty="0" smtClean="0"/>
          </a:p>
          <a:p>
            <a:endParaRPr lang="en-IN" sz="1400" b="1" dirty="0" smtClean="0"/>
          </a:p>
        </p:txBody>
      </p:sp>
      <p:sp>
        <p:nvSpPr>
          <p:cNvPr id="8" name="TextBox 7"/>
          <p:cNvSpPr txBox="1"/>
          <p:nvPr/>
        </p:nvSpPr>
        <p:spPr>
          <a:xfrm>
            <a:off x="323528" y="6093296"/>
            <a:ext cx="2232248" cy="646331"/>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wrap="square" rtlCol="0">
            <a:spAutoFit/>
          </a:bodyPr>
          <a:lstStyle/>
          <a:p>
            <a:r>
              <a:rPr lang="en-IN" dirty="0" smtClean="0"/>
              <a:t>Thursday</a:t>
            </a:r>
          </a:p>
          <a:p>
            <a:r>
              <a:rPr lang="en-IN" dirty="0" smtClean="0"/>
              <a:t>December 03,2020</a:t>
            </a:r>
          </a:p>
        </p:txBody>
      </p:sp>
      <p:cxnSp>
        <p:nvCxnSpPr>
          <p:cNvPr id="4" name="Straight Connector 3"/>
          <p:cNvCxnSpPr/>
          <p:nvPr/>
        </p:nvCxnSpPr>
        <p:spPr>
          <a:xfrm>
            <a:off x="0" y="1988840"/>
            <a:ext cx="9144000" cy="0"/>
          </a:xfrm>
          <a:prstGeom prst="line">
            <a:avLst/>
          </a:prstGeom>
          <a:ln w="19050"/>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3356925800"/>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200" dirty="0" smtClean="0"/>
              <a:t>OBJECTIVE</a:t>
            </a:r>
            <a:endParaRPr lang="en-IN" sz="3200" dirty="0"/>
          </a:p>
        </p:txBody>
      </p:sp>
      <p:pic>
        <p:nvPicPr>
          <p:cNvPr id="3" name="Picture 2"/>
          <p:cNvPicPr>
            <a:picLocks noChangeAspect="1" noChangeArrowheads="1"/>
          </p:cNvPicPr>
          <p:nvPr/>
        </p:nvPicPr>
        <p:blipFill>
          <a:blip r:embed="rId2">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683569" y="188641"/>
            <a:ext cx="1181100" cy="1168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extBox 4"/>
          <p:cNvSpPr txBox="1"/>
          <p:nvPr/>
        </p:nvSpPr>
        <p:spPr>
          <a:xfrm>
            <a:off x="323528" y="6093296"/>
            <a:ext cx="2232248" cy="646331"/>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wrap="square" rtlCol="0">
            <a:spAutoFit/>
          </a:bodyPr>
          <a:lstStyle/>
          <a:p>
            <a:r>
              <a:rPr lang="en-IN" dirty="0" smtClean="0"/>
              <a:t>Thursday</a:t>
            </a:r>
          </a:p>
          <a:p>
            <a:r>
              <a:rPr lang="en-IN" dirty="0" smtClean="0"/>
              <a:t>December 03,2020</a:t>
            </a:r>
          </a:p>
        </p:txBody>
      </p:sp>
      <p:sp>
        <p:nvSpPr>
          <p:cNvPr id="7" name="TextBox 6"/>
          <p:cNvSpPr txBox="1"/>
          <p:nvPr/>
        </p:nvSpPr>
        <p:spPr>
          <a:xfrm>
            <a:off x="3419873" y="6093297"/>
            <a:ext cx="5358699" cy="646331"/>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wrap="square" rtlCol="0">
            <a:spAutoFit/>
          </a:bodyPr>
          <a:lstStyle/>
          <a:p>
            <a:r>
              <a:rPr lang="en-IN" b="1" dirty="0" smtClean="0"/>
              <a:t>Life Health Band – Health Monitoring System For Elderly People.</a:t>
            </a:r>
          </a:p>
        </p:txBody>
      </p:sp>
      <p:cxnSp>
        <p:nvCxnSpPr>
          <p:cNvPr id="11" name="Straight Connector 10"/>
          <p:cNvCxnSpPr/>
          <p:nvPr/>
        </p:nvCxnSpPr>
        <p:spPr>
          <a:xfrm>
            <a:off x="0" y="1268760"/>
            <a:ext cx="9144000" cy="0"/>
          </a:xfrm>
          <a:prstGeom prst="line">
            <a:avLst/>
          </a:prstGeom>
          <a:ln w="19050"/>
        </p:spPr>
        <p:style>
          <a:lnRef idx="1">
            <a:schemeClr val="dk1"/>
          </a:lnRef>
          <a:fillRef idx="0">
            <a:schemeClr val="dk1"/>
          </a:fillRef>
          <a:effectRef idx="0">
            <a:schemeClr val="dk1"/>
          </a:effectRef>
          <a:fontRef idx="minor">
            <a:schemeClr val="tx1"/>
          </a:fontRef>
        </p:style>
      </p:cxnSp>
      <p:sp>
        <p:nvSpPr>
          <p:cNvPr id="6" name="TextBox 5"/>
          <p:cNvSpPr txBox="1"/>
          <p:nvPr/>
        </p:nvSpPr>
        <p:spPr>
          <a:xfrm>
            <a:off x="467544" y="1628801"/>
            <a:ext cx="8496944" cy="1200329"/>
          </a:xfrm>
          <a:prstGeom prst="rect">
            <a:avLst/>
          </a:prstGeom>
          <a:noFill/>
        </p:spPr>
        <p:txBody>
          <a:bodyPr wrap="square" rtlCol="0">
            <a:spAutoFit/>
          </a:bodyPr>
          <a:lstStyle/>
          <a:p>
            <a:pPr lvl="0"/>
            <a:r>
              <a:rPr lang="en-IN" b="1" dirty="0"/>
              <a:t>AIM:</a:t>
            </a:r>
            <a:r>
              <a:rPr lang="en-IN" dirty="0"/>
              <a:t> To design and develop a IOT based system collects the </a:t>
            </a:r>
            <a:r>
              <a:rPr lang="en-IN" dirty="0" smtClean="0"/>
              <a:t>data </a:t>
            </a:r>
            <a:r>
              <a:rPr lang="en-IN" dirty="0"/>
              <a:t>where it is processed and analyzed for improved elderly lifestyle.</a:t>
            </a:r>
          </a:p>
          <a:p>
            <a:r>
              <a:rPr lang="en-IN" dirty="0"/>
              <a:t> </a:t>
            </a:r>
          </a:p>
          <a:p>
            <a:endParaRPr lang="en-IN" dirty="0"/>
          </a:p>
        </p:txBody>
      </p:sp>
      <p:sp>
        <p:nvSpPr>
          <p:cNvPr id="8" name="TextBox 7"/>
          <p:cNvSpPr txBox="1"/>
          <p:nvPr/>
        </p:nvSpPr>
        <p:spPr>
          <a:xfrm>
            <a:off x="467545" y="2564905"/>
            <a:ext cx="8424936" cy="3693319"/>
          </a:xfrm>
          <a:prstGeom prst="rect">
            <a:avLst/>
          </a:prstGeom>
          <a:noFill/>
        </p:spPr>
        <p:txBody>
          <a:bodyPr wrap="square" rtlCol="0">
            <a:spAutoFit/>
          </a:bodyPr>
          <a:lstStyle/>
          <a:p>
            <a:pPr lvl="0"/>
            <a:r>
              <a:rPr lang="en-IN" b="1" dirty="0"/>
              <a:t>Objectives:</a:t>
            </a:r>
            <a:endParaRPr lang="en-IN" dirty="0"/>
          </a:p>
          <a:p>
            <a:pPr marL="285750" lvl="0" indent="-285750">
              <a:lnSpc>
                <a:spcPct val="200000"/>
              </a:lnSpc>
              <a:buFont typeface="Wingdings" pitchFamily="2" charset="2"/>
              <a:buChar char="Ø"/>
            </a:pPr>
            <a:r>
              <a:rPr lang="en-IN" dirty="0"/>
              <a:t>To develop a </a:t>
            </a:r>
            <a:r>
              <a:rPr lang="en-IN" dirty="0" smtClean="0"/>
              <a:t>ARM </a:t>
            </a:r>
            <a:r>
              <a:rPr lang="en-IN" dirty="0"/>
              <a:t>based Embedded Board from scratch.</a:t>
            </a:r>
          </a:p>
          <a:p>
            <a:pPr marL="285750" lvl="0" indent="-285750">
              <a:lnSpc>
                <a:spcPct val="200000"/>
              </a:lnSpc>
              <a:buFont typeface="Wingdings" pitchFamily="2" charset="2"/>
              <a:buChar char="Ø"/>
            </a:pPr>
            <a:r>
              <a:rPr lang="en-IN" dirty="0"/>
              <a:t>To design and develop to sense various body parameters for elderly. </a:t>
            </a:r>
          </a:p>
          <a:p>
            <a:pPr marL="285750" lvl="0" indent="-285750">
              <a:lnSpc>
                <a:spcPct val="200000"/>
              </a:lnSpc>
              <a:buFont typeface="Wingdings" pitchFamily="2" charset="2"/>
              <a:buChar char="Ø"/>
            </a:pPr>
            <a:r>
              <a:rPr lang="en-IN" dirty="0"/>
              <a:t>To develop a Graphical user interface (GUI) on IOT so that the doctor can process and analyze the active lifestyle.</a:t>
            </a:r>
          </a:p>
          <a:p>
            <a:pPr marL="285750" lvl="0" indent="-285750">
              <a:lnSpc>
                <a:spcPct val="200000"/>
              </a:lnSpc>
              <a:buFont typeface="Wingdings" pitchFamily="2" charset="2"/>
              <a:buChar char="Ø"/>
            </a:pPr>
            <a:r>
              <a:rPr lang="en-IN" dirty="0"/>
              <a:t>To develop a report excel sheet to analyse the active lifestyle pattern of elderly. </a:t>
            </a:r>
          </a:p>
          <a:p>
            <a:pPr marL="285750" indent="-285750">
              <a:lnSpc>
                <a:spcPct val="200000"/>
              </a:lnSpc>
              <a:buFont typeface="Wingdings" pitchFamily="2" charset="2"/>
              <a:buChar char="Ø"/>
            </a:pPr>
            <a:endParaRPr lang="en-IN" dirty="0"/>
          </a:p>
        </p:txBody>
      </p:sp>
    </p:spTree>
    <p:extLst>
      <p:ext uri="{BB962C8B-B14F-4D97-AF65-F5344CB8AC3E}">
        <p14:creationId xmlns:p14="http://schemas.microsoft.com/office/powerpoint/2010/main" val="1948381686"/>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600" dirty="0" smtClean="0"/>
              <a:t>             SPECIFICATIONS OF PROJECT</a:t>
            </a:r>
            <a:endParaRPr lang="en-IN" sz="3600" dirty="0"/>
          </a:p>
        </p:txBody>
      </p:sp>
      <p:pic>
        <p:nvPicPr>
          <p:cNvPr id="3" name="Picture 2"/>
          <p:cNvPicPr>
            <a:picLocks noChangeAspect="1" noChangeArrowheads="1"/>
          </p:cNvPicPr>
          <p:nvPr/>
        </p:nvPicPr>
        <p:blipFill>
          <a:blip r:embed="rId2">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827584" y="260649"/>
            <a:ext cx="1368152" cy="1168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TextBox 3"/>
          <p:cNvSpPr txBox="1"/>
          <p:nvPr/>
        </p:nvSpPr>
        <p:spPr>
          <a:xfrm>
            <a:off x="1187624" y="2204865"/>
            <a:ext cx="6912768" cy="3416320"/>
          </a:xfrm>
          <a:prstGeom prst="rect">
            <a:avLst/>
          </a:prstGeom>
          <a:noFill/>
        </p:spPr>
        <p:txBody>
          <a:bodyPr wrap="square" rtlCol="0">
            <a:spAutoFit/>
          </a:bodyPr>
          <a:lstStyle/>
          <a:p>
            <a:pPr marL="342900" lvl="0" indent="-342900">
              <a:buFont typeface="+mj-lt"/>
              <a:buAutoNum type="arabicPeriod"/>
            </a:pPr>
            <a:r>
              <a:rPr lang="en-IN" dirty="0" err="1" smtClean="0"/>
              <a:t>Arduino</a:t>
            </a:r>
            <a:r>
              <a:rPr lang="en-IN" dirty="0" smtClean="0"/>
              <a:t> UNO- </a:t>
            </a:r>
            <a:r>
              <a:rPr lang="en-IN" dirty="0"/>
              <a:t>8 bit ATmega328P (</a:t>
            </a:r>
            <a:r>
              <a:rPr lang="en-IN" dirty="0" smtClean="0"/>
              <a:t>Freq-16MHZ)</a:t>
            </a:r>
          </a:p>
          <a:p>
            <a:pPr marL="342900" lvl="0" indent="-342900">
              <a:buFont typeface="+mj-lt"/>
              <a:buAutoNum type="arabicPeriod"/>
            </a:pPr>
            <a:r>
              <a:rPr lang="en-IN" dirty="0" smtClean="0"/>
              <a:t>Operating </a:t>
            </a:r>
            <a:r>
              <a:rPr lang="en-IN" dirty="0"/>
              <a:t>Voltage- </a:t>
            </a:r>
            <a:r>
              <a:rPr lang="en-IN" dirty="0" smtClean="0"/>
              <a:t>5volts</a:t>
            </a:r>
          </a:p>
          <a:p>
            <a:pPr marL="342900" lvl="0" indent="-342900">
              <a:buFont typeface="+mj-lt"/>
              <a:buAutoNum type="arabicPeriod"/>
            </a:pPr>
            <a:r>
              <a:rPr lang="en-IN" dirty="0" smtClean="0"/>
              <a:t>Pulse </a:t>
            </a:r>
            <a:r>
              <a:rPr lang="en-IN" dirty="0"/>
              <a:t>Sensor(SEN-11574) - 0.625" Diameter and 0.125" </a:t>
            </a:r>
            <a:r>
              <a:rPr lang="en-IN" dirty="0" smtClean="0"/>
              <a:t>Thick</a:t>
            </a:r>
          </a:p>
          <a:p>
            <a:pPr marL="342900" lvl="0" indent="-342900">
              <a:buFont typeface="+mj-lt"/>
              <a:buAutoNum type="arabicPeriod"/>
            </a:pPr>
            <a:r>
              <a:rPr lang="en-IN" dirty="0" smtClean="0"/>
              <a:t>Accelerometer- ADXL335  </a:t>
            </a:r>
            <a:r>
              <a:rPr lang="en-IN" dirty="0"/>
              <a:t>Triple Axis , 6 pin Accelerometer </a:t>
            </a:r>
            <a:endParaRPr lang="en-IN" dirty="0" smtClean="0"/>
          </a:p>
          <a:p>
            <a:pPr marL="342900" lvl="0" indent="-342900">
              <a:buFont typeface="+mj-lt"/>
              <a:buAutoNum type="arabicPeriod"/>
            </a:pPr>
            <a:r>
              <a:rPr lang="en-IN" dirty="0" smtClean="0"/>
              <a:t>Temperature Sensor - LM35 - 3pin</a:t>
            </a:r>
          </a:p>
          <a:p>
            <a:pPr marL="342900" lvl="0" indent="-342900">
              <a:buFont typeface="+mj-lt"/>
              <a:buAutoNum type="arabicPeriod"/>
            </a:pPr>
            <a:r>
              <a:rPr lang="en-IN" dirty="0" smtClean="0"/>
              <a:t>Emergency </a:t>
            </a:r>
            <a:r>
              <a:rPr lang="en-IN" dirty="0"/>
              <a:t>button- 6x6x5mm Tactile Push </a:t>
            </a:r>
            <a:r>
              <a:rPr lang="en-IN" dirty="0" smtClean="0"/>
              <a:t>Button</a:t>
            </a:r>
          </a:p>
          <a:p>
            <a:pPr marL="342900" lvl="0" indent="-342900">
              <a:buFont typeface="+mj-lt"/>
              <a:buAutoNum type="arabicPeriod"/>
            </a:pPr>
            <a:r>
              <a:rPr lang="en-IN" dirty="0" smtClean="0"/>
              <a:t>16x2 </a:t>
            </a:r>
            <a:r>
              <a:rPr lang="en-IN" dirty="0"/>
              <a:t>LCD </a:t>
            </a:r>
            <a:r>
              <a:rPr lang="en-IN" dirty="0" smtClean="0"/>
              <a:t>Display</a:t>
            </a:r>
          </a:p>
          <a:p>
            <a:pPr marL="342900" lvl="0" indent="-342900">
              <a:buFont typeface="+mj-lt"/>
              <a:buAutoNum type="arabicPeriod"/>
            </a:pPr>
            <a:r>
              <a:rPr lang="en-IN" dirty="0" err="1" smtClean="0"/>
              <a:t>Wifi</a:t>
            </a:r>
            <a:r>
              <a:rPr lang="en-IN" dirty="0" smtClean="0"/>
              <a:t> Module – ESP8266 </a:t>
            </a:r>
          </a:p>
          <a:p>
            <a:pPr marL="342900" lvl="0" indent="-342900">
              <a:buFont typeface="+mj-lt"/>
              <a:buAutoNum type="arabicPeriod"/>
            </a:pPr>
            <a:r>
              <a:rPr lang="en-IN" dirty="0" smtClean="0"/>
              <a:t>Android/IOS Mobile</a:t>
            </a:r>
          </a:p>
          <a:p>
            <a:pPr marL="342900" lvl="0" indent="-342900">
              <a:buFont typeface="+mj-lt"/>
              <a:buAutoNum type="arabicPeriod"/>
            </a:pPr>
            <a:r>
              <a:rPr lang="en-IN" dirty="0" smtClean="0"/>
              <a:t>Power </a:t>
            </a:r>
            <a:r>
              <a:rPr lang="en-IN" dirty="0"/>
              <a:t>Bank/ 9V </a:t>
            </a:r>
            <a:r>
              <a:rPr lang="en-IN" dirty="0" smtClean="0"/>
              <a:t>battery</a:t>
            </a:r>
          </a:p>
          <a:p>
            <a:pPr marL="342900" lvl="0" indent="-342900">
              <a:buFont typeface="+mj-lt"/>
              <a:buAutoNum type="arabicPeriod"/>
            </a:pPr>
            <a:r>
              <a:rPr lang="en-IN" dirty="0" smtClean="0"/>
              <a:t>Buzzer</a:t>
            </a:r>
            <a:endParaRPr lang="en-IN" dirty="0"/>
          </a:p>
          <a:p>
            <a:endParaRPr lang="en-IN" dirty="0"/>
          </a:p>
        </p:txBody>
      </p:sp>
      <p:sp>
        <p:nvSpPr>
          <p:cNvPr id="5" name="TextBox 4"/>
          <p:cNvSpPr txBox="1"/>
          <p:nvPr/>
        </p:nvSpPr>
        <p:spPr>
          <a:xfrm>
            <a:off x="323528" y="6093296"/>
            <a:ext cx="2232248" cy="646331"/>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wrap="square" rtlCol="0">
            <a:spAutoFit/>
          </a:bodyPr>
          <a:lstStyle/>
          <a:p>
            <a:r>
              <a:rPr lang="en-IN" dirty="0" smtClean="0"/>
              <a:t>Thursday</a:t>
            </a:r>
          </a:p>
          <a:p>
            <a:r>
              <a:rPr lang="en-IN" dirty="0" smtClean="0"/>
              <a:t>December 03,2020</a:t>
            </a:r>
          </a:p>
        </p:txBody>
      </p:sp>
      <p:sp>
        <p:nvSpPr>
          <p:cNvPr id="6" name="Rectangle 5"/>
          <p:cNvSpPr/>
          <p:nvPr/>
        </p:nvSpPr>
        <p:spPr>
          <a:xfrm>
            <a:off x="2987824" y="6093296"/>
            <a:ext cx="5220072" cy="646331"/>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wrap="square">
            <a:spAutoFit/>
          </a:bodyPr>
          <a:lstStyle/>
          <a:p>
            <a:r>
              <a:rPr lang="en-IN" b="1" dirty="0" smtClean="0"/>
              <a:t>Life Health Band – Health Monitoring System For Elderly People.</a:t>
            </a:r>
          </a:p>
        </p:txBody>
      </p:sp>
      <p:cxnSp>
        <p:nvCxnSpPr>
          <p:cNvPr id="8" name="Straight Connector 7"/>
          <p:cNvCxnSpPr/>
          <p:nvPr/>
        </p:nvCxnSpPr>
        <p:spPr>
          <a:xfrm>
            <a:off x="0" y="1556792"/>
            <a:ext cx="9144000" cy="0"/>
          </a:xfrm>
          <a:prstGeom prst="line">
            <a:avLst/>
          </a:prstGeom>
          <a:ln w="19050"/>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2881230416"/>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4000" dirty="0" smtClean="0"/>
              <a:t>LITERATURE SURVEY</a:t>
            </a:r>
            <a:endParaRPr lang="en-IN" sz="4000" dirty="0"/>
          </a:p>
        </p:txBody>
      </p:sp>
      <p:pic>
        <p:nvPicPr>
          <p:cNvPr id="3" name="Picture 2"/>
          <p:cNvPicPr>
            <a:picLocks noChangeAspect="1" noChangeArrowheads="1"/>
          </p:cNvPicPr>
          <p:nvPr/>
        </p:nvPicPr>
        <p:blipFill>
          <a:blip r:embed="rId2">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683569" y="188641"/>
            <a:ext cx="1181100" cy="1168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TextBox 5"/>
          <p:cNvSpPr txBox="1"/>
          <p:nvPr/>
        </p:nvSpPr>
        <p:spPr>
          <a:xfrm>
            <a:off x="359532" y="1700808"/>
            <a:ext cx="8424936" cy="6463308"/>
          </a:xfrm>
          <a:prstGeom prst="rect">
            <a:avLst/>
          </a:prstGeom>
          <a:noFill/>
        </p:spPr>
        <p:txBody>
          <a:bodyPr wrap="square" rtlCol="0">
            <a:spAutoFit/>
          </a:bodyPr>
          <a:lstStyle/>
          <a:p>
            <a:pPr marL="285750" indent="-285750">
              <a:buFont typeface="Arial" pitchFamily="34" charset="0"/>
              <a:buChar char="•"/>
            </a:pPr>
            <a:r>
              <a:rPr lang="en-US" dirty="0" smtClean="0"/>
              <a:t>In Remote health monitoring system using is used to transmit the patients’ health parameters collected through microcontroller to the </a:t>
            </a:r>
            <a:r>
              <a:rPr lang="en-US" dirty="0" smtClean="0"/>
              <a:t>doctors</a:t>
            </a:r>
            <a:r>
              <a:rPr lang="en-US" dirty="0" smtClean="0"/>
              <a:t> </a:t>
            </a:r>
            <a:r>
              <a:rPr lang="en-US" dirty="0" smtClean="0"/>
              <a:t>and caretaker </a:t>
            </a:r>
            <a:r>
              <a:rPr lang="en-US" dirty="0" smtClean="0"/>
              <a:t>wirelessly.[1]</a:t>
            </a:r>
          </a:p>
          <a:p>
            <a:pPr marL="285750" indent="-285750">
              <a:buFont typeface="Arial" pitchFamily="34" charset="0"/>
              <a:buChar char="•"/>
            </a:pPr>
            <a:r>
              <a:rPr lang="en-US" dirty="0" smtClean="0"/>
              <a:t>Being </a:t>
            </a:r>
            <a:r>
              <a:rPr lang="en-US" dirty="0" smtClean="0"/>
              <a:t>long range wireless technology, emergency situation of the patient’s health is quickly detected and timely intervention leads to save the life of the patient</a:t>
            </a:r>
            <a:r>
              <a:rPr lang="en-US" dirty="0" smtClean="0"/>
              <a:t>.[1]</a:t>
            </a:r>
            <a:endParaRPr lang="en-US" dirty="0" smtClean="0"/>
          </a:p>
          <a:p>
            <a:pPr marL="285750" indent="-285750">
              <a:buFont typeface="Arial" pitchFamily="34" charset="0"/>
              <a:buChar char="•"/>
            </a:pPr>
            <a:r>
              <a:rPr lang="en-US" dirty="0" smtClean="0"/>
              <a:t>Due</a:t>
            </a:r>
            <a:r>
              <a:rPr lang="en-US" dirty="0" smtClean="0"/>
              <a:t> </a:t>
            </a:r>
            <a:r>
              <a:rPr lang="en-US" dirty="0" smtClean="0"/>
              <a:t>to costlier healthcare and long waiting time in hospitals, the concept of in-home patient monitoring system have been emerging in the recent years</a:t>
            </a:r>
            <a:r>
              <a:rPr lang="en-US" dirty="0" smtClean="0"/>
              <a:t>.[2]</a:t>
            </a:r>
          </a:p>
          <a:p>
            <a:pPr marL="285750" indent="-285750">
              <a:buFont typeface="Arial" pitchFamily="34" charset="0"/>
              <a:buChar char="•"/>
            </a:pPr>
            <a:r>
              <a:rPr lang="en-US" dirty="0" smtClean="0"/>
              <a:t>This </a:t>
            </a:r>
            <a:r>
              <a:rPr lang="en-US" dirty="0" smtClean="0"/>
              <a:t>system collects data of various body parameters through Biosensors, wearable devices and smart textiles and it transmits the data The server rings alarm to the ambulance during emergency situation. It is very beneficial for elders and chronic patients who require continuous monitoring. </a:t>
            </a:r>
            <a:endParaRPr lang="en-US" dirty="0" smtClean="0"/>
          </a:p>
          <a:p>
            <a:pPr marL="285750" indent="-285750">
              <a:buFont typeface="Arial" pitchFamily="34" charset="0"/>
              <a:buChar char="•"/>
            </a:pPr>
            <a:r>
              <a:rPr lang="en-US" dirty="0" smtClean="0"/>
              <a:t>This </a:t>
            </a:r>
            <a:r>
              <a:rPr lang="en-US" dirty="0"/>
              <a:t>system performs basic health checkups by measuring the body parameters regularly and report the data to the doctors</a:t>
            </a:r>
            <a:r>
              <a:rPr lang="en-US" dirty="0" smtClean="0"/>
              <a:t>.[3]</a:t>
            </a:r>
            <a:endParaRPr lang="en-US" dirty="0"/>
          </a:p>
          <a:p>
            <a:pPr marL="285750" indent="-285750">
              <a:buFont typeface="Arial" pitchFamily="34" charset="0"/>
              <a:buChar char="•"/>
            </a:pPr>
            <a:endParaRPr lang="en-US" dirty="0" smtClean="0"/>
          </a:p>
          <a:p>
            <a:pPr marL="285750" indent="-285750">
              <a:buFont typeface="Arial" pitchFamily="34" charset="0"/>
              <a:buChar char="•"/>
            </a:pPr>
            <a:endParaRPr lang="en-US" dirty="0" smtClean="0"/>
          </a:p>
          <a:p>
            <a:pPr marL="285750" indent="-285750">
              <a:buFont typeface="Arial" pitchFamily="34" charset="0"/>
              <a:buChar char="•"/>
            </a:pPr>
            <a:endParaRPr lang="en-US" dirty="0"/>
          </a:p>
          <a:p>
            <a:pPr marL="285750" indent="-285750">
              <a:buFont typeface="Arial" pitchFamily="34" charset="0"/>
              <a:buChar char="•"/>
            </a:pPr>
            <a:endParaRPr lang="en-US" dirty="0" smtClean="0"/>
          </a:p>
          <a:p>
            <a:pPr marL="285750" indent="-285750">
              <a:buFont typeface="Arial" pitchFamily="34" charset="0"/>
              <a:buChar char="•"/>
            </a:pPr>
            <a:endParaRPr lang="en-US" dirty="0"/>
          </a:p>
          <a:p>
            <a:pPr marL="285750" indent="-285750">
              <a:buFont typeface="Arial" pitchFamily="34" charset="0"/>
              <a:buChar char="•"/>
            </a:pPr>
            <a:endParaRPr lang="en-US" dirty="0" smtClean="0"/>
          </a:p>
          <a:p>
            <a:pPr marL="285750" indent="-285750">
              <a:buFont typeface="Arial" pitchFamily="34" charset="0"/>
              <a:buChar char="•"/>
            </a:pPr>
            <a:endParaRPr lang="en-US" dirty="0" smtClean="0"/>
          </a:p>
          <a:p>
            <a:pPr marL="285750" indent="-285750">
              <a:buFont typeface="Arial" pitchFamily="34" charset="0"/>
              <a:buChar char="•"/>
            </a:pPr>
            <a:endParaRPr lang="en-US" dirty="0" smtClean="0"/>
          </a:p>
          <a:p>
            <a:pPr marL="285750" indent="-285750">
              <a:buFont typeface="Arial" pitchFamily="34" charset="0"/>
              <a:buChar char="•"/>
            </a:pPr>
            <a:endParaRPr lang="en-US" dirty="0" smtClean="0"/>
          </a:p>
          <a:p>
            <a:endParaRPr lang="en-IN" dirty="0"/>
          </a:p>
        </p:txBody>
      </p:sp>
      <p:sp>
        <p:nvSpPr>
          <p:cNvPr id="7" name="TextBox 6"/>
          <p:cNvSpPr txBox="1"/>
          <p:nvPr/>
        </p:nvSpPr>
        <p:spPr>
          <a:xfrm>
            <a:off x="323528" y="6093296"/>
            <a:ext cx="2232248" cy="646331"/>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wrap="square" rtlCol="0">
            <a:spAutoFit/>
          </a:bodyPr>
          <a:lstStyle/>
          <a:p>
            <a:r>
              <a:rPr lang="en-IN" dirty="0" smtClean="0"/>
              <a:t>Thursday</a:t>
            </a:r>
          </a:p>
          <a:p>
            <a:r>
              <a:rPr lang="en-IN" dirty="0" smtClean="0"/>
              <a:t>December 03,2020</a:t>
            </a:r>
          </a:p>
        </p:txBody>
      </p:sp>
      <p:sp>
        <p:nvSpPr>
          <p:cNvPr id="8" name="TextBox 7"/>
          <p:cNvSpPr txBox="1"/>
          <p:nvPr/>
        </p:nvSpPr>
        <p:spPr>
          <a:xfrm>
            <a:off x="2915816" y="6093296"/>
            <a:ext cx="5256584" cy="646331"/>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wrap="square" rtlCol="0">
            <a:spAutoFit/>
          </a:bodyPr>
          <a:lstStyle/>
          <a:p>
            <a:r>
              <a:rPr lang="en-IN" b="1" dirty="0" smtClean="0"/>
              <a:t>Life Health Band – Health Monitoring System For       Elderly People.</a:t>
            </a:r>
          </a:p>
        </p:txBody>
      </p:sp>
      <p:cxnSp>
        <p:nvCxnSpPr>
          <p:cNvPr id="10" name="Straight Connector 9"/>
          <p:cNvCxnSpPr/>
          <p:nvPr/>
        </p:nvCxnSpPr>
        <p:spPr>
          <a:xfrm>
            <a:off x="0" y="1592796"/>
            <a:ext cx="9144000" cy="0"/>
          </a:xfrm>
          <a:prstGeom prst="line">
            <a:avLst/>
          </a:prstGeom>
          <a:ln w="19050"/>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344376814"/>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539552" y="620689"/>
            <a:ext cx="8208912" cy="4862870"/>
          </a:xfrm>
          <a:prstGeom prst="rect">
            <a:avLst/>
          </a:prstGeom>
          <a:noFill/>
        </p:spPr>
        <p:txBody>
          <a:bodyPr wrap="square" rtlCol="0">
            <a:spAutoFit/>
          </a:bodyPr>
          <a:lstStyle/>
          <a:p>
            <a:endParaRPr lang="en-US" dirty="0" smtClean="0"/>
          </a:p>
          <a:p>
            <a:r>
              <a:rPr lang="en-US" sz="2000" dirty="0" smtClean="0"/>
              <a:t>MOTIVATION –</a:t>
            </a:r>
          </a:p>
          <a:p>
            <a:endParaRPr lang="en-US" sz="2000" dirty="0" smtClean="0"/>
          </a:p>
          <a:p>
            <a:pPr marL="285750" indent="-285750">
              <a:buFont typeface="Arial" pitchFamily="34" charset="0"/>
              <a:buChar char="•"/>
            </a:pPr>
            <a:r>
              <a:rPr lang="en-US" dirty="0" smtClean="0"/>
              <a:t> </a:t>
            </a:r>
            <a:r>
              <a:rPr lang="en-US" dirty="0" smtClean="0"/>
              <a:t>Existing </a:t>
            </a:r>
            <a:r>
              <a:rPr lang="en-US" dirty="0" smtClean="0"/>
              <a:t>methods </a:t>
            </a:r>
            <a:r>
              <a:rPr lang="en-US" dirty="0" smtClean="0"/>
              <a:t>in patient monitoring system focuses on providing better healthcare facilities to a number of patients with limited medicinal </a:t>
            </a:r>
            <a:r>
              <a:rPr lang="en-US" dirty="0" smtClean="0"/>
              <a:t>resources.</a:t>
            </a:r>
          </a:p>
          <a:p>
            <a:pPr marL="285750" indent="-285750">
              <a:buFont typeface="Arial" pitchFamily="34" charset="0"/>
              <a:buChar char="•"/>
            </a:pPr>
            <a:r>
              <a:rPr lang="en-US" dirty="0" smtClean="0"/>
              <a:t>These </a:t>
            </a:r>
            <a:r>
              <a:rPr lang="en-US" dirty="0" smtClean="0"/>
              <a:t>monitoring systems limit the patients to the bed and enable them to move around only a particular range from the bed side. Out of this range there is no possibility to collect the data from patients. The decisions or suggestions given by the system are not highly accurate. </a:t>
            </a:r>
            <a:endParaRPr lang="en-US" dirty="0" smtClean="0"/>
          </a:p>
          <a:p>
            <a:pPr marL="285750" indent="-285750">
              <a:buFont typeface="Arial" pitchFamily="34" charset="0"/>
              <a:buChar char="•"/>
            </a:pPr>
            <a:r>
              <a:rPr lang="en-US" dirty="0" smtClean="0"/>
              <a:t>The </a:t>
            </a:r>
            <a:r>
              <a:rPr lang="en-US" dirty="0" smtClean="0"/>
              <a:t>traditional forecasting techniques do not provide timely and accurate results. This increases the risk of error in providing appropriate clinical services</a:t>
            </a:r>
            <a:r>
              <a:rPr lang="en-US" dirty="0" smtClean="0"/>
              <a:t>.</a:t>
            </a:r>
          </a:p>
          <a:p>
            <a:pPr marL="285750" indent="-285750">
              <a:buFont typeface="Arial" pitchFamily="34" charset="0"/>
              <a:buChar char="•"/>
            </a:pPr>
            <a:r>
              <a:rPr lang="en-US" dirty="0" smtClean="0"/>
              <a:t> </a:t>
            </a:r>
            <a:r>
              <a:rPr lang="en-US" dirty="0" smtClean="0"/>
              <a:t>Remote patient monitoring system eliminates the hurdles such as distance and improves the access of medical services. </a:t>
            </a:r>
            <a:endParaRPr lang="en-US" dirty="0" smtClean="0"/>
          </a:p>
          <a:p>
            <a:pPr marL="285750" indent="-285750">
              <a:buFont typeface="Arial" pitchFamily="34" charset="0"/>
              <a:buChar char="•"/>
            </a:pPr>
            <a:r>
              <a:rPr lang="en-US" dirty="0" smtClean="0"/>
              <a:t>Patient </a:t>
            </a:r>
            <a:r>
              <a:rPr lang="en-US" dirty="0" smtClean="0"/>
              <a:t>monitoring through android mobile phone enables the </a:t>
            </a:r>
            <a:r>
              <a:rPr lang="en-US" dirty="0" smtClean="0"/>
              <a:t>doctors</a:t>
            </a:r>
            <a:r>
              <a:rPr lang="en-US" dirty="0" smtClean="0"/>
              <a:t> </a:t>
            </a:r>
            <a:r>
              <a:rPr lang="en-US" dirty="0" smtClean="0"/>
              <a:t>to monitor the patient from multiple locations. Pattern Matching Algorithm is used to determine the type of diseases and give the indication to Doctor. It helps to protect the person from risk factor. </a:t>
            </a:r>
            <a:endParaRPr lang="en-IN" dirty="0"/>
          </a:p>
        </p:txBody>
      </p:sp>
      <p:sp>
        <p:nvSpPr>
          <p:cNvPr id="5" name="TextBox 4"/>
          <p:cNvSpPr txBox="1"/>
          <p:nvPr/>
        </p:nvSpPr>
        <p:spPr>
          <a:xfrm>
            <a:off x="323528" y="6093296"/>
            <a:ext cx="2232248" cy="646331"/>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wrap="square" rtlCol="0">
            <a:spAutoFit/>
          </a:bodyPr>
          <a:lstStyle/>
          <a:p>
            <a:r>
              <a:rPr lang="en-IN" dirty="0" smtClean="0"/>
              <a:t>Thursday</a:t>
            </a:r>
          </a:p>
          <a:p>
            <a:r>
              <a:rPr lang="en-IN" dirty="0" smtClean="0"/>
              <a:t>December 03,2020</a:t>
            </a:r>
          </a:p>
        </p:txBody>
      </p:sp>
      <p:sp>
        <p:nvSpPr>
          <p:cNvPr id="6" name="Rectangle 5"/>
          <p:cNvSpPr/>
          <p:nvPr/>
        </p:nvSpPr>
        <p:spPr>
          <a:xfrm>
            <a:off x="3275856" y="6114985"/>
            <a:ext cx="5112568" cy="646331"/>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wrap="square">
            <a:spAutoFit/>
          </a:bodyPr>
          <a:lstStyle/>
          <a:p>
            <a:r>
              <a:rPr lang="en-IN" b="1" dirty="0" smtClean="0"/>
              <a:t>Life Health Band – Health Monitoring System For       Elderly People.</a:t>
            </a:r>
          </a:p>
        </p:txBody>
      </p:sp>
      <p:pic>
        <p:nvPicPr>
          <p:cNvPr id="7" name="Picture 6"/>
          <p:cNvPicPr>
            <a:picLocks noChangeAspect="1" noChangeArrowheads="1"/>
          </p:cNvPicPr>
          <p:nvPr/>
        </p:nvPicPr>
        <p:blipFill>
          <a:blip r:embed="rId2">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179512" y="-171400"/>
            <a:ext cx="1181100" cy="1168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786987864"/>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BLOCK DIAGRAM</a:t>
            </a:r>
            <a:endParaRPr lang="en-IN" dirty="0"/>
          </a:p>
        </p:txBody>
      </p:sp>
      <p:pic>
        <p:nvPicPr>
          <p:cNvPr id="3" name="Picture 2"/>
          <p:cNvPicPr>
            <a:picLocks noChangeAspect="1" noChangeArrowheads="1"/>
          </p:cNvPicPr>
          <p:nvPr/>
        </p:nvPicPr>
        <p:blipFill>
          <a:blip r:embed="rId2">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755576" y="244377"/>
            <a:ext cx="1080120" cy="10685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ext Box 18"/>
          <p:cNvSpPr txBox="1"/>
          <p:nvPr/>
        </p:nvSpPr>
        <p:spPr>
          <a:xfrm>
            <a:off x="2720340" y="1965959"/>
            <a:ext cx="1783080" cy="2808393"/>
          </a:xfrm>
          <a:prstGeom prst="rect">
            <a:avLst/>
          </a:prstGeom>
          <a:ln/>
        </p:spPr>
        <p:style>
          <a:lnRef idx="2">
            <a:schemeClr val="dk1"/>
          </a:lnRef>
          <a:fillRef idx="1">
            <a:schemeClr val="lt1"/>
          </a:fillRef>
          <a:effectRef idx="0">
            <a:schemeClr val="dk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a:lnSpc>
                <a:spcPct val="115000"/>
              </a:lnSpc>
              <a:spcAft>
                <a:spcPts val="1000"/>
              </a:spcAft>
            </a:pPr>
            <a:r>
              <a:rPr lang="en-IN" sz="1600" b="1" dirty="0">
                <a:effectLst/>
                <a:ea typeface="Calibri"/>
                <a:cs typeface="Times New Roman"/>
              </a:rPr>
              <a:t>     </a:t>
            </a:r>
            <a:endParaRPr lang="en-IN" sz="1100" dirty="0">
              <a:effectLst/>
              <a:ea typeface="Calibri"/>
              <a:cs typeface="Times New Roman"/>
            </a:endParaRPr>
          </a:p>
          <a:p>
            <a:pPr>
              <a:lnSpc>
                <a:spcPct val="115000"/>
              </a:lnSpc>
              <a:spcAft>
                <a:spcPts val="1000"/>
              </a:spcAft>
            </a:pPr>
            <a:r>
              <a:rPr lang="en-IN" sz="1600" b="1" dirty="0">
                <a:effectLst/>
                <a:ea typeface="Calibri"/>
                <a:cs typeface="Times New Roman"/>
              </a:rPr>
              <a:t> </a:t>
            </a:r>
            <a:endParaRPr lang="en-IN" sz="1100" dirty="0">
              <a:effectLst/>
              <a:ea typeface="Calibri"/>
              <a:cs typeface="Times New Roman"/>
            </a:endParaRPr>
          </a:p>
          <a:p>
            <a:pPr>
              <a:lnSpc>
                <a:spcPct val="115000"/>
              </a:lnSpc>
              <a:spcAft>
                <a:spcPts val="1000"/>
              </a:spcAft>
            </a:pPr>
            <a:r>
              <a:rPr lang="en-IN" sz="1600" b="1" dirty="0">
                <a:effectLst/>
                <a:ea typeface="Calibri"/>
                <a:cs typeface="Times New Roman"/>
              </a:rPr>
              <a:t>      </a:t>
            </a:r>
            <a:r>
              <a:rPr lang="en-IN" sz="1600" b="1" dirty="0" smtClean="0">
                <a:effectLst/>
                <a:ea typeface="Calibri"/>
                <a:cs typeface="Times New Roman"/>
              </a:rPr>
              <a:t>   Arduino </a:t>
            </a:r>
          </a:p>
          <a:p>
            <a:pPr>
              <a:lnSpc>
                <a:spcPct val="115000"/>
              </a:lnSpc>
              <a:spcAft>
                <a:spcPts val="1000"/>
              </a:spcAft>
            </a:pPr>
            <a:r>
              <a:rPr lang="en-IN" sz="1600" b="1" dirty="0">
                <a:ea typeface="Calibri"/>
                <a:cs typeface="Times New Roman"/>
              </a:rPr>
              <a:t> </a:t>
            </a:r>
            <a:r>
              <a:rPr lang="en-IN" sz="1600" b="1" dirty="0" smtClean="0">
                <a:ea typeface="Calibri"/>
                <a:cs typeface="Times New Roman"/>
              </a:rPr>
              <a:t>          UNO</a:t>
            </a:r>
            <a:endParaRPr lang="en-IN" sz="1100" dirty="0">
              <a:effectLst/>
              <a:ea typeface="Calibri"/>
              <a:cs typeface="Times New Roman"/>
            </a:endParaRPr>
          </a:p>
        </p:txBody>
      </p:sp>
      <p:sp>
        <p:nvSpPr>
          <p:cNvPr id="6" name="Text Box 26"/>
          <p:cNvSpPr txBox="1"/>
          <p:nvPr/>
        </p:nvSpPr>
        <p:spPr>
          <a:xfrm>
            <a:off x="1089661" y="1973580"/>
            <a:ext cx="1181100" cy="563880"/>
          </a:xfrm>
          <a:prstGeom prst="rect">
            <a:avLst/>
          </a:prstGeom>
          <a:ln/>
        </p:spPr>
        <p:style>
          <a:lnRef idx="2">
            <a:schemeClr val="dk1"/>
          </a:lnRef>
          <a:fillRef idx="1">
            <a:schemeClr val="lt1"/>
          </a:fillRef>
          <a:effectRef idx="0">
            <a:schemeClr val="dk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a:lnSpc>
                <a:spcPct val="115000"/>
              </a:lnSpc>
              <a:spcAft>
                <a:spcPts val="1000"/>
              </a:spcAft>
            </a:pPr>
            <a:r>
              <a:rPr lang="en-IN" sz="1400" b="1" dirty="0">
                <a:effectLst/>
                <a:ea typeface="Calibri"/>
                <a:cs typeface="Times New Roman"/>
              </a:rPr>
              <a:t>Temperature sensor</a:t>
            </a:r>
            <a:endParaRPr lang="en-IN" sz="1100" dirty="0">
              <a:effectLst/>
              <a:ea typeface="Calibri"/>
              <a:cs typeface="Times New Roman"/>
            </a:endParaRPr>
          </a:p>
        </p:txBody>
      </p:sp>
      <p:sp>
        <p:nvSpPr>
          <p:cNvPr id="7" name="Text Box 27"/>
          <p:cNvSpPr txBox="1"/>
          <p:nvPr/>
        </p:nvSpPr>
        <p:spPr>
          <a:xfrm>
            <a:off x="1089661" y="2710439"/>
            <a:ext cx="1181100" cy="563880"/>
          </a:xfrm>
          <a:prstGeom prst="rect">
            <a:avLst/>
          </a:prstGeom>
          <a:ln/>
        </p:spPr>
        <p:style>
          <a:lnRef idx="2">
            <a:schemeClr val="dk1"/>
          </a:lnRef>
          <a:fillRef idx="1">
            <a:schemeClr val="lt1"/>
          </a:fillRef>
          <a:effectRef idx="0">
            <a:schemeClr val="dk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a:lnSpc>
                <a:spcPct val="115000"/>
              </a:lnSpc>
              <a:spcAft>
                <a:spcPts val="1000"/>
              </a:spcAft>
            </a:pPr>
            <a:r>
              <a:rPr lang="en-IN" sz="1400" b="1" dirty="0">
                <a:effectLst/>
                <a:ea typeface="Calibri"/>
                <a:cs typeface="Times New Roman"/>
              </a:rPr>
              <a:t>Pulse Rate Sensor</a:t>
            </a:r>
            <a:endParaRPr lang="en-IN" sz="1100" dirty="0">
              <a:effectLst/>
              <a:ea typeface="Calibri"/>
              <a:cs typeface="Times New Roman"/>
            </a:endParaRPr>
          </a:p>
        </p:txBody>
      </p:sp>
      <p:sp>
        <p:nvSpPr>
          <p:cNvPr id="9" name="Text Box 29"/>
          <p:cNvSpPr txBox="1"/>
          <p:nvPr/>
        </p:nvSpPr>
        <p:spPr>
          <a:xfrm>
            <a:off x="971600" y="3468082"/>
            <a:ext cx="1299161" cy="392966"/>
          </a:xfrm>
          <a:prstGeom prst="rect">
            <a:avLst/>
          </a:prstGeom>
          <a:ln/>
        </p:spPr>
        <p:style>
          <a:lnRef idx="2">
            <a:schemeClr val="dk1"/>
          </a:lnRef>
          <a:fillRef idx="1">
            <a:schemeClr val="lt1"/>
          </a:fillRef>
          <a:effectRef idx="0">
            <a:schemeClr val="dk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a:lnSpc>
                <a:spcPct val="115000"/>
              </a:lnSpc>
              <a:spcAft>
                <a:spcPts val="1000"/>
              </a:spcAft>
            </a:pPr>
            <a:r>
              <a:rPr lang="en-IN" sz="1400" b="1" dirty="0">
                <a:effectLst/>
                <a:ea typeface="Calibri"/>
                <a:cs typeface="Times New Roman"/>
              </a:rPr>
              <a:t>Accelerometer</a:t>
            </a:r>
            <a:endParaRPr lang="en-IN" sz="1100" dirty="0">
              <a:effectLst/>
              <a:ea typeface="Calibri"/>
              <a:cs typeface="Times New Roman"/>
            </a:endParaRPr>
          </a:p>
        </p:txBody>
      </p:sp>
      <p:sp>
        <p:nvSpPr>
          <p:cNvPr id="10" name="Text Box 31"/>
          <p:cNvSpPr txBox="1"/>
          <p:nvPr/>
        </p:nvSpPr>
        <p:spPr>
          <a:xfrm>
            <a:off x="4957234" y="2855476"/>
            <a:ext cx="909320" cy="357500"/>
          </a:xfrm>
          <a:prstGeom prst="rect">
            <a:avLst/>
          </a:prstGeom>
          <a:ln/>
        </p:spPr>
        <p:style>
          <a:lnRef idx="2">
            <a:schemeClr val="dk1"/>
          </a:lnRef>
          <a:fillRef idx="1">
            <a:schemeClr val="lt1"/>
          </a:fillRef>
          <a:effectRef idx="0">
            <a:schemeClr val="dk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a:lnSpc>
                <a:spcPct val="115000"/>
              </a:lnSpc>
              <a:spcAft>
                <a:spcPts val="1000"/>
              </a:spcAft>
            </a:pPr>
            <a:r>
              <a:rPr lang="en-IN" sz="1400" b="1" dirty="0">
                <a:effectLst/>
                <a:ea typeface="Calibri"/>
                <a:cs typeface="Times New Roman"/>
              </a:rPr>
              <a:t>  Mobile</a:t>
            </a:r>
            <a:endParaRPr lang="en-IN" sz="1100" dirty="0">
              <a:effectLst/>
              <a:ea typeface="Calibri"/>
              <a:cs typeface="Times New Roman"/>
            </a:endParaRPr>
          </a:p>
        </p:txBody>
      </p:sp>
      <p:sp>
        <p:nvSpPr>
          <p:cNvPr id="11" name="Text Box 32"/>
          <p:cNvSpPr txBox="1"/>
          <p:nvPr/>
        </p:nvSpPr>
        <p:spPr>
          <a:xfrm>
            <a:off x="4876800" y="2060847"/>
            <a:ext cx="1279376" cy="507093"/>
          </a:xfrm>
          <a:prstGeom prst="rect">
            <a:avLst/>
          </a:prstGeom>
          <a:ln/>
        </p:spPr>
        <p:style>
          <a:lnRef idx="2">
            <a:schemeClr val="dk1"/>
          </a:lnRef>
          <a:fillRef idx="1">
            <a:schemeClr val="lt1"/>
          </a:fillRef>
          <a:effectRef idx="0">
            <a:schemeClr val="dk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a:lnSpc>
                <a:spcPct val="115000"/>
              </a:lnSpc>
              <a:spcAft>
                <a:spcPts val="1000"/>
              </a:spcAft>
            </a:pPr>
            <a:r>
              <a:rPr lang="en-IN" sz="1400" b="1" dirty="0" smtClean="0">
                <a:effectLst/>
                <a:ea typeface="Calibri"/>
                <a:cs typeface="Times New Roman"/>
              </a:rPr>
              <a:t> Wi-Fi Module</a:t>
            </a:r>
            <a:endParaRPr lang="en-IN" sz="1100" dirty="0">
              <a:effectLst/>
              <a:ea typeface="Calibri"/>
              <a:cs typeface="Times New Roman"/>
            </a:endParaRPr>
          </a:p>
        </p:txBody>
      </p:sp>
      <p:sp>
        <p:nvSpPr>
          <p:cNvPr id="12" name="Text Box 34"/>
          <p:cNvSpPr txBox="1"/>
          <p:nvPr/>
        </p:nvSpPr>
        <p:spPr>
          <a:xfrm>
            <a:off x="2495551" y="5143500"/>
            <a:ext cx="1066800" cy="563880"/>
          </a:xfrm>
          <a:prstGeom prst="rect">
            <a:avLst/>
          </a:prstGeom>
          <a:ln/>
        </p:spPr>
        <p:style>
          <a:lnRef idx="2">
            <a:schemeClr val="dk1"/>
          </a:lnRef>
          <a:fillRef idx="1">
            <a:schemeClr val="lt1"/>
          </a:fillRef>
          <a:effectRef idx="0">
            <a:schemeClr val="dk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a:lnSpc>
                <a:spcPct val="115000"/>
              </a:lnSpc>
              <a:spcAft>
                <a:spcPts val="1000"/>
              </a:spcAft>
            </a:pPr>
            <a:r>
              <a:rPr lang="en-IN" sz="1400" b="1" dirty="0">
                <a:effectLst/>
                <a:ea typeface="Calibri"/>
                <a:cs typeface="Times New Roman"/>
              </a:rPr>
              <a:t>Emergency Button</a:t>
            </a:r>
            <a:endParaRPr lang="en-IN" sz="1100" dirty="0">
              <a:effectLst/>
              <a:ea typeface="Calibri"/>
              <a:cs typeface="Times New Roman"/>
            </a:endParaRPr>
          </a:p>
        </p:txBody>
      </p:sp>
      <p:sp>
        <p:nvSpPr>
          <p:cNvPr id="13" name="Text Box 35"/>
          <p:cNvSpPr txBox="1"/>
          <p:nvPr/>
        </p:nvSpPr>
        <p:spPr>
          <a:xfrm>
            <a:off x="4652434" y="3607658"/>
            <a:ext cx="609600" cy="424304"/>
          </a:xfrm>
          <a:prstGeom prst="rect">
            <a:avLst/>
          </a:prstGeom>
          <a:ln/>
        </p:spPr>
        <p:style>
          <a:lnRef idx="2">
            <a:schemeClr val="dk1"/>
          </a:lnRef>
          <a:fillRef idx="1">
            <a:schemeClr val="lt1"/>
          </a:fillRef>
          <a:effectRef idx="0">
            <a:schemeClr val="dk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a:lnSpc>
                <a:spcPct val="115000"/>
              </a:lnSpc>
              <a:spcAft>
                <a:spcPts val="1000"/>
              </a:spcAft>
            </a:pPr>
            <a:r>
              <a:rPr lang="en-IN" sz="1100" b="1" dirty="0">
                <a:effectLst/>
                <a:ea typeface="Calibri"/>
                <a:cs typeface="Times New Roman"/>
              </a:rPr>
              <a:t>Mobile 1</a:t>
            </a:r>
            <a:endParaRPr lang="en-IN" sz="1100" dirty="0">
              <a:effectLst/>
              <a:ea typeface="Calibri"/>
              <a:cs typeface="Times New Roman"/>
            </a:endParaRPr>
          </a:p>
        </p:txBody>
      </p:sp>
      <p:sp>
        <p:nvSpPr>
          <p:cNvPr id="14" name="Text Box 36"/>
          <p:cNvSpPr txBox="1"/>
          <p:nvPr/>
        </p:nvSpPr>
        <p:spPr>
          <a:xfrm>
            <a:off x="5398780" y="3618591"/>
            <a:ext cx="631676" cy="402438"/>
          </a:xfrm>
          <a:prstGeom prst="rect">
            <a:avLst/>
          </a:prstGeom>
          <a:ln/>
        </p:spPr>
        <p:style>
          <a:lnRef idx="2">
            <a:schemeClr val="dk1"/>
          </a:lnRef>
          <a:fillRef idx="1">
            <a:schemeClr val="lt1"/>
          </a:fillRef>
          <a:effectRef idx="0">
            <a:schemeClr val="dk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a:lnSpc>
                <a:spcPct val="115000"/>
              </a:lnSpc>
              <a:spcAft>
                <a:spcPts val="1000"/>
              </a:spcAft>
            </a:pPr>
            <a:r>
              <a:rPr lang="en-IN" sz="1100" b="1" dirty="0">
                <a:effectLst/>
                <a:ea typeface="Calibri"/>
                <a:cs typeface="Times New Roman"/>
              </a:rPr>
              <a:t>Mobile 2</a:t>
            </a:r>
            <a:endParaRPr lang="en-IN" sz="1100" dirty="0">
              <a:effectLst/>
              <a:ea typeface="Calibri"/>
              <a:cs typeface="Times New Roman"/>
            </a:endParaRPr>
          </a:p>
        </p:txBody>
      </p:sp>
      <p:sp>
        <p:nvSpPr>
          <p:cNvPr id="15" name="Text Box 37"/>
          <p:cNvSpPr txBox="1"/>
          <p:nvPr/>
        </p:nvSpPr>
        <p:spPr>
          <a:xfrm>
            <a:off x="6137514" y="3576405"/>
            <a:ext cx="640855" cy="444624"/>
          </a:xfrm>
          <a:prstGeom prst="rect">
            <a:avLst/>
          </a:prstGeom>
          <a:ln/>
        </p:spPr>
        <p:style>
          <a:lnRef idx="2">
            <a:schemeClr val="dk1"/>
          </a:lnRef>
          <a:fillRef idx="1">
            <a:schemeClr val="lt1"/>
          </a:fillRef>
          <a:effectRef idx="0">
            <a:schemeClr val="dk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a:lnSpc>
                <a:spcPct val="115000"/>
              </a:lnSpc>
              <a:spcAft>
                <a:spcPts val="1000"/>
              </a:spcAft>
            </a:pPr>
            <a:r>
              <a:rPr lang="en-IN" sz="1100" b="1" dirty="0">
                <a:effectLst/>
                <a:ea typeface="Calibri"/>
                <a:cs typeface="Times New Roman"/>
              </a:rPr>
              <a:t>Mobile 3</a:t>
            </a:r>
            <a:endParaRPr lang="en-IN" sz="1000" dirty="0">
              <a:effectLst/>
              <a:ea typeface="Calibri"/>
              <a:cs typeface="Times New Roman"/>
            </a:endParaRPr>
          </a:p>
        </p:txBody>
      </p:sp>
      <p:cxnSp>
        <p:nvCxnSpPr>
          <p:cNvPr id="16" name="Straight Arrow Connector 15"/>
          <p:cNvCxnSpPr/>
          <p:nvPr/>
        </p:nvCxnSpPr>
        <p:spPr>
          <a:xfrm>
            <a:off x="4503420" y="2278380"/>
            <a:ext cx="365760" cy="0"/>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cxnSp>
        <p:nvCxnSpPr>
          <p:cNvPr id="17" name="Straight Arrow Connector 16"/>
          <p:cNvCxnSpPr/>
          <p:nvPr/>
        </p:nvCxnSpPr>
        <p:spPr>
          <a:xfrm>
            <a:off x="5292080" y="2567941"/>
            <a:ext cx="0" cy="284996"/>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cxnSp>
        <p:nvCxnSpPr>
          <p:cNvPr id="18" name="Straight Arrow Connector 17"/>
          <p:cNvCxnSpPr/>
          <p:nvPr/>
        </p:nvCxnSpPr>
        <p:spPr>
          <a:xfrm>
            <a:off x="5076056" y="3221420"/>
            <a:ext cx="0" cy="363429"/>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cxnSp>
        <p:nvCxnSpPr>
          <p:cNvPr id="19" name="Straight Arrow Connector 18"/>
          <p:cNvCxnSpPr/>
          <p:nvPr/>
        </p:nvCxnSpPr>
        <p:spPr>
          <a:xfrm>
            <a:off x="5580112" y="3221420"/>
            <a:ext cx="0" cy="369356"/>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cxnSp>
        <p:nvCxnSpPr>
          <p:cNvPr id="20" name="Straight Arrow Connector 19"/>
          <p:cNvCxnSpPr/>
          <p:nvPr/>
        </p:nvCxnSpPr>
        <p:spPr>
          <a:xfrm>
            <a:off x="5760720" y="3212976"/>
            <a:ext cx="539472" cy="363429"/>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cxnSp>
        <p:nvCxnSpPr>
          <p:cNvPr id="21" name="Straight Arrow Connector 20"/>
          <p:cNvCxnSpPr/>
          <p:nvPr/>
        </p:nvCxnSpPr>
        <p:spPr>
          <a:xfrm flipV="1">
            <a:off x="4076700" y="4774354"/>
            <a:ext cx="0" cy="428837"/>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cxnSp>
        <p:nvCxnSpPr>
          <p:cNvPr id="22" name="Straight Arrow Connector 21"/>
          <p:cNvCxnSpPr/>
          <p:nvPr/>
        </p:nvCxnSpPr>
        <p:spPr>
          <a:xfrm flipV="1">
            <a:off x="2870479" y="4774353"/>
            <a:ext cx="0" cy="369148"/>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cxnSp>
        <p:nvCxnSpPr>
          <p:cNvPr id="23" name="Straight Arrow Connector 22"/>
          <p:cNvCxnSpPr/>
          <p:nvPr/>
        </p:nvCxnSpPr>
        <p:spPr>
          <a:xfrm>
            <a:off x="2270761" y="2278380"/>
            <a:ext cx="449580" cy="0"/>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cxnSp>
        <p:nvCxnSpPr>
          <p:cNvPr id="24" name="Straight Arrow Connector 23"/>
          <p:cNvCxnSpPr/>
          <p:nvPr/>
        </p:nvCxnSpPr>
        <p:spPr>
          <a:xfrm>
            <a:off x="2270761" y="3040380"/>
            <a:ext cx="449580" cy="0"/>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cxnSp>
        <p:nvCxnSpPr>
          <p:cNvPr id="26" name="Straight Arrow Connector 25"/>
          <p:cNvCxnSpPr>
            <a:stCxn id="9" idx="3"/>
          </p:cNvCxnSpPr>
          <p:nvPr/>
        </p:nvCxnSpPr>
        <p:spPr>
          <a:xfrm>
            <a:off x="2270761" y="3664565"/>
            <a:ext cx="449578" cy="0"/>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sp>
        <p:nvSpPr>
          <p:cNvPr id="28" name="Rectangle 24"/>
          <p:cNvSpPr>
            <a:spLocks noChangeArrowheads="1"/>
          </p:cNvSpPr>
          <p:nvPr/>
        </p:nvSpPr>
        <p:spPr bwMode="auto">
          <a:xfrm>
            <a:off x="1" y="0"/>
            <a:ext cx="184731"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dirty="0" smtClean="0">
              <a:ln>
                <a:noFill/>
              </a:ln>
              <a:solidFill>
                <a:schemeClr val="tx1"/>
              </a:solidFill>
              <a:effectLst/>
              <a:latin typeface="Arial" pitchFamily="34" charset="0"/>
              <a:cs typeface="Arial" pitchFamily="34" charset="0"/>
            </a:endParaRPr>
          </a:p>
        </p:txBody>
      </p:sp>
      <p:sp>
        <p:nvSpPr>
          <p:cNvPr id="29" name="Rectangle 36"/>
          <p:cNvSpPr>
            <a:spLocks noChangeArrowheads="1"/>
          </p:cNvSpPr>
          <p:nvPr/>
        </p:nvSpPr>
        <p:spPr bwMode="auto">
          <a:xfrm>
            <a:off x="1" y="457200"/>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tab pos="2263775" algn="l"/>
              </a:tabLst>
            </a:pPr>
            <a:endParaRPr kumimoji="0" lang="en-US" sz="1800" b="0" i="0" u="none" strike="noStrike" cap="none" normalizeH="0" baseline="0" dirty="0" smtClean="0">
              <a:ln>
                <a:noFill/>
              </a:ln>
              <a:solidFill>
                <a:schemeClr val="tx1"/>
              </a:solidFill>
              <a:effectLst/>
              <a:latin typeface="Arial" pitchFamily="34" charset="0"/>
              <a:cs typeface="Arial" pitchFamily="34" charset="0"/>
            </a:endParaRPr>
          </a:p>
        </p:txBody>
      </p:sp>
      <p:sp>
        <p:nvSpPr>
          <p:cNvPr id="30" name="TextBox 29"/>
          <p:cNvSpPr txBox="1"/>
          <p:nvPr/>
        </p:nvSpPr>
        <p:spPr>
          <a:xfrm>
            <a:off x="3131840" y="1412776"/>
            <a:ext cx="1036320" cy="369332"/>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n-IN" b="1" dirty="0" smtClean="0"/>
              <a:t>   LCD</a:t>
            </a:r>
            <a:endParaRPr lang="en-IN" b="1" dirty="0"/>
          </a:p>
        </p:txBody>
      </p:sp>
      <p:sp>
        <p:nvSpPr>
          <p:cNvPr id="34" name="TextBox 33"/>
          <p:cNvSpPr txBox="1"/>
          <p:nvPr/>
        </p:nvSpPr>
        <p:spPr>
          <a:xfrm>
            <a:off x="3703712" y="5163830"/>
            <a:ext cx="868288" cy="523220"/>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n-IN" sz="1400" b="1" dirty="0" smtClean="0"/>
              <a:t>Power Bank</a:t>
            </a:r>
            <a:endParaRPr lang="en-IN" sz="1400" b="1" dirty="0"/>
          </a:p>
        </p:txBody>
      </p:sp>
      <p:sp>
        <p:nvSpPr>
          <p:cNvPr id="36" name="TextBox 35"/>
          <p:cNvSpPr txBox="1"/>
          <p:nvPr/>
        </p:nvSpPr>
        <p:spPr>
          <a:xfrm>
            <a:off x="4829800" y="4466575"/>
            <a:ext cx="914400" cy="307777"/>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n-IN" sz="1400" b="1" dirty="0" smtClean="0"/>
              <a:t>Buzzer</a:t>
            </a:r>
            <a:endParaRPr lang="en-IN" sz="1400" b="1" dirty="0"/>
          </a:p>
        </p:txBody>
      </p:sp>
      <p:cxnSp>
        <p:nvCxnSpPr>
          <p:cNvPr id="41" name="Straight Arrow Connector 40"/>
          <p:cNvCxnSpPr/>
          <p:nvPr/>
        </p:nvCxnSpPr>
        <p:spPr>
          <a:xfrm flipV="1">
            <a:off x="3594244" y="1782108"/>
            <a:ext cx="0" cy="191472"/>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sp>
        <p:nvSpPr>
          <p:cNvPr id="42" name="TextBox 41"/>
          <p:cNvSpPr txBox="1"/>
          <p:nvPr/>
        </p:nvSpPr>
        <p:spPr>
          <a:xfrm>
            <a:off x="323528" y="6093296"/>
            <a:ext cx="2232248" cy="646331"/>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wrap="square" rtlCol="0">
            <a:spAutoFit/>
          </a:bodyPr>
          <a:lstStyle/>
          <a:p>
            <a:r>
              <a:rPr lang="en-IN" dirty="0" smtClean="0"/>
              <a:t>Thursday</a:t>
            </a:r>
          </a:p>
          <a:p>
            <a:r>
              <a:rPr lang="en-IN" dirty="0" smtClean="0"/>
              <a:t>December 03,2020</a:t>
            </a:r>
          </a:p>
        </p:txBody>
      </p:sp>
      <p:sp>
        <p:nvSpPr>
          <p:cNvPr id="43" name="TextBox 42"/>
          <p:cNvSpPr txBox="1"/>
          <p:nvPr/>
        </p:nvSpPr>
        <p:spPr>
          <a:xfrm>
            <a:off x="3131840" y="6093297"/>
            <a:ext cx="5544616" cy="646331"/>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wrap="square" rtlCol="0">
            <a:spAutoFit/>
          </a:bodyPr>
          <a:lstStyle/>
          <a:p>
            <a:r>
              <a:rPr lang="en-IN" b="1" dirty="0" smtClean="0"/>
              <a:t>Life Health Band – Health Monitoring System For       Elderly People.</a:t>
            </a:r>
          </a:p>
        </p:txBody>
      </p:sp>
      <p:sp>
        <p:nvSpPr>
          <p:cNvPr id="49" name="TextBox 48"/>
          <p:cNvSpPr txBox="1"/>
          <p:nvPr/>
        </p:nvSpPr>
        <p:spPr>
          <a:xfrm>
            <a:off x="1280653" y="4281259"/>
            <a:ext cx="1031107" cy="307777"/>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n-IN" sz="1400" b="1" dirty="0" smtClean="0"/>
              <a:t>IoT Servers</a:t>
            </a:r>
            <a:endParaRPr lang="en-IN" sz="1400" b="1" dirty="0"/>
          </a:p>
        </p:txBody>
      </p:sp>
      <p:cxnSp>
        <p:nvCxnSpPr>
          <p:cNvPr id="52" name="Straight Connector 51"/>
          <p:cNvCxnSpPr/>
          <p:nvPr/>
        </p:nvCxnSpPr>
        <p:spPr>
          <a:xfrm>
            <a:off x="0" y="1196752"/>
            <a:ext cx="9144000" cy="0"/>
          </a:xfrm>
          <a:prstGeom prst="line">
            <a:avLst/>
          </a:prstGeom>
          <a:ln w="12700">
            <a:solidFill>
              <a:schemeClr val="tx1"/>
            </a:solidFill>
          </a:ln>
        </p:spPr>
        <p:style>
          <a:lnRef idx="1">
            <a:schemeClr val="dk1"/>
          </a:lnRef>
          <a:fillRef idx="0">
            <a:schemeClr val="dk1"/>
          </a:fillRef>
          <a:effectRef idx="0">
            <a:schemeClr val="dk1"/>
          </a:effectRef>
          <a:fontRef idx="minor">
            <a:schemeClr val="tx1"/>
          </a:fontRef>
        </p:style>
      </p:cxnSp>
      <p:cxnSp>
        <p:nvCxnSpPr>
          <p:cNvPr id="47" name="Straight Arrow Connector 46"/>
          <p:cNvCxnSpPr>
            <a:endCxn id="36" idx="1"/>
          </p:cNvCxnSpPr>
          <p:nvPr/>
        </p:nvCxnSpPr>
        <p:spPr>
          <a:xfrm>
            <a:off x="4503420" y="4620463"/>
            <a:ext cx="326380" cy="1"/>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cxnSp>
        <p:nvCxnSpPr>
          <p:cNvPr id="35" name="Straight Arrow Connector 34"/>
          <p:cNvCxnSpPr/>
          <p:nvPr/>
        </p:nvCxnSpPr>
        <p:spPr>
          <a:xfrm>
            <a:off x="2346960" y="4435148"/>
            <a:ext cx="373379" cy="0"/>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spTree>
    <p:extLst>
      <p:ext uri="{BB962C8B-B14F-4D97-AF65-F5344CB8AC3E}">
        <p14:creationId xmlns:p14="http://schemas.microsoft.com/office/powerpoint/2010/main" val="2077335841"/>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600" dirty="0" smtClean="0"/>
              <a:t>        HARDWARE AND SOFTWARE USED</a:t>
            </a:r>
            <a:endParaRPr lang="en-IN" sz="3600" dirty="0"/>
          </a:p>
        </p:txBody>
      </p:sp>
      <p:pic>
        <p:nvPicPr>
          <p:cNvPr id="3" name="Picture 2"/>
          <p:cNvPicPr>
            <a:picLocks noChangeAspect="1" noChangeArrowheads="1"/>
          </p:cNvPicPr>
          <p:nvPr/>
        </p:nvPicPr>
        <p:blipFill>
          <a:blip r:embed="rId2">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467545" y="260649"/>
            <a:ext cx="1181100" cy="1168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TextBox 3"/>
          <p:cNvSpPr txBox="1"/>
          <p:nvPr/>
        </p:nvSpPr>
        <p:spPr>
          <a:xfrm>
            <a:off x="611560" y="1556792"/>
            <a:ext cx="8352928" cy="4247317"/>
          </a:xfrm>
          <a:prstGeom prst="rect">
            <a:avLst/>
          </a:prstGeom>
          <a:noFill/>
        </p:spPr>
        <p:txBody>
          <a:bodyPr wrap="square" rtlCol="0">
            <a:spAutoFit/>
          </a:bodyPr>
          <a:lstStyle/>
          <a:p>
            <a:r>
              <a:rPr lang="en-IN" b="1" dirty="0" smtClean="0"/>
              <a:t>Hardware:</a:t>
            </a:r>
          </a:p>
          <a:p>
            <a:pPr marL="342900" indent="-342900">
              <a:buFont typeface="+mj-lt"/>
              <a:buAutoNum type="arabicPeriod"/>
            </a:pPr>
            <a:r>
              <a:rPr lang="en-IN" dirty="0" smtClean="0"/>
              <a:t>Arduino</a:t>
            </a:r>
          </a:p>
          <a:p>
            <a:pPr marL="342900" indent="-342900">
              <a:buFont typeface="+mj-lt"/>
              <a:buAutoNum type="arabicPeriod"/>
            </a:pPr>
            <a:r>
              <a:rPr lang="en-IN" dirty="0" smtClean="0"/>
              <a:t>Temperature Sensor</a:t>
            </a:r>
          </a:p>
          <a:p>
            <a:pPr marL="342900" indent="-342900">
              <a:buFont typeface="+mj-lt"/>
              <a:buAutoNum type="arabicPeriod"/>
            </a:pPr>
            <a:r>
              <a:rPr lang="en-IN" dirty="0" smtClean="0"/>
              <a:t>Pulse Sensor</a:t>
            </a:r>
          </a:p>
          <a:p>
            <a:pPr marL="342900" indent="-342900">
              <a:buFont typeface="+mj-lt"/>
              <a:buAutoNum type="arabicPeriod"/>
            </a:pPr>
            <a:r>
              <a:rPr lang="en-IN" dirty="0" smtClean="0"/>
              <a:t>Accelerometer</a:t>
            </a:r>
          </a:p>
          <a:p>
            <a:pPr marL="342900" indent="-342900">
              <a:buFont typeface="+mj-lt"/>
              <a:buAutoNum type="arabicPeriod"/>
            </a:pPr>
            <a:r>
              <a:rPr lang="en-IN" dirty="0" smtClean="0"/>
              <a:t>Buzzer</a:t>
            </a:r>
          </a:p>
          <a:p>
            <a:pPr marL="342900" indent="-342900">
              <a:buFont typeface="+mj-lt"/>
              <a:buAutoNum type="arabicPeriod"/>
            </a:pPr>
            <a:r>
              <a:rPr lang="en-IN" dirty="0" smtClean="0"/>
              <a:t>Wi Fi Module</a:t>
            </a:r>
          </a:p>
          <a:p>
            <a:pPr marL="342900" indent="-342900">
              <a:buFont typeface="+mj-lt"/>
              <a:buAutoNum type="arabicPeriod"/>
            </a:pPr>
            <a:r>
              <a:rPr lang="en-IN" dirty="0" smtClean="0"/>
              <a:t>Emergency Button</a:t>
            </a:r>
          </a:p>
          <a:p>
            <a:pPr marL="342900" indent="-342900">
              <a:buFont typeface="+mj-lt"/>
              <a:buAutoNum type="arabicPeriod"/>
            </a:pPr>
            <a:r>
              <a:rPr lang="en-IN" dirty="0" smtClean="0"/>
              <a:t>Android Phone</a:t>
            </a:r>
          </a:p>
          <a:p>
            <a:r>
              <a:rPr lang="en-IN" b="1" dirty="0" smtClean="0"/>
              <a:t>Software:</a:t>
            </a:r>
          </a:p>
          <a:p>
            <a:pPr marL="342900" indent="-342900">
              <a:buFont typeface="+mj-lt"/>
              <a:buAutoNum type="arabicPeriod"/>
            </a:pPr>
            <a:r>
              <a:rPr lang="en-IN" dirty="0" err="1" smtClean="0"/>
              <a:t>Arduino</a:t>
            </a:r>
            <a:r>
              <a:rPr lang="en-IN" dirty="0" smtClean="0"/>
              <a:t> IDE,</a:t>
            </a:r>
            <a:r>
              <a:rPr lang="en-IN" dirty="0"/>
              <a:t> Make circuit in </a:t>
            </a:r>
            <a:r>
              <a:rPr lang="en-IN" dirty="0" err="1"/>
              <a:t>proteus</a:t>
            </a:r>
            <a:r>
              <a:rPr lang="en-IN" dirty="0"/>
              <a:t>, PCB making, Soldering, H/W testing, Software coding on Embedded C using KEIL Compiler</a:t>
            </a:r>
            <a:r>
              <a:rPr lang="en-IN" dirty="0" smtClean="0"/>
              <a:t>.</a:t>
            </a:r>
            <a:endParaRPr lang="en-IN" dirty="0"/>
          </a:p>
          <a:p>
            <a:pPr marL="342900" indent="-342900">
              <a:buFont typeface="+mj-lt"/>
              <a:buAutoNum type="arabicPeriod"/>
            </a:pPr>
            <a:r>
              <a:rPr lang="en-IN" dirty="0" smtClean="0"/>
              <a:t> </a:t>
            </a:r>
            <a:r>
              <a:rPr lang="en-US" dirty="0"/>
              <a:t>To design an IOT SERVER software in Fire Fox. To design a GUI containing Tables and </a:t>
            </a:r>
            <a:r>
              <a:rPr lang="en-US" dirty="0" smtClean="0"/>
              <a:t>   Graphs</a:t>
            </a:r>
            <a:r>
              <a:rPr lang="en-US" dirty="0"/>
              <a:t>.</a:t>
            </a:r>
            <a:endParaRPr lang="en-IN" dirty="0" smtClean="0"/>
          </a:p>
          <a:p>
            <a:pPr marL="342900" indent="-342900">
              <a:buFont typeface="+mj-lt"/>
              <a:buAutoNum type="arabicPeriod"/>
            </a:pPr>
            <a:endParaRPr lang="en-IN" dirty="0"/>
          </a:p>
        </p:txBody>
      </p:sp>
      <p:sp>
        <p:nvSpPr>
          <p:cNvPr id="5" name="TextBox 4"/>
          <p:cNvSpPr txBox="1"/>
          <p:nvPr/>
        </p:nvSpPr>
        <p:spPr>
          <a:xfrm>
            <a:off x="323528" y="6093296"/>
            <a:ext cx="2232248" cy="646331"/>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wrap="square" rtlCol="0">
            <a:spAutoFit/>
          </a:bodyPr>
          <a:lstStyle/>
          <a:p>
            <a:r>
              <a:rPr lang="en-IN" dirty="0" smtClean="0"/>
              <a:t>Thursday</a:t>
            </a:r>
          </a:p>
          <a:p>
            <a:r>
              <a:rPr lang="en-IN" dirty="0" smtClean="0"/>
              <a:t>December 03,2020</a:t>
            </a:r>
          </a:p>
        </p:txBody>
      </p:sp>
      <p:sp>
        <p:nvSpPr>
          <p:cNvPr id="6" name="TextBox 5"/>
          <p:cNvSpPr txBox="1"/>
          <p:nvPr/>
        </p:nvSpPr>
        <p:spPr>
          <a:xfrm>
            <a:off x="2987824" y="6092142"/>
            <a:ext cx="5760640" cy="646331"/>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wrap="square" rtlCol="0">
            <a:spAutoFit/>
          </a:bodyPr>
          <a:lstStyle/>
          <a:p>
            <a:r>
              <a:rPr lang="en-IN" b="1" dirty="0" smtClean="0"/>
              <a:t>Life Health Band – Health Monitoring System For       Elderly People.</a:t>
            </a:r>
          </a:p>
        </p:txBody>
      </p:sp>
      <p:cxnSp>
        <p:nvCxnSpPr>
          <p:cNvPr id="8" name="Straight Connector 7"/>
          <p:cNvCxnSpPr/>
          <p:nvPr/>
        </p:nvCxnSpPr>
        <p:spPr>
          <a:xfrm>
            <a:off x="0" y="1556792"/>
            <a:ext cx="9144000" cy="0"/>
          </a:xfrm>
          <a:prstGeom prst="line">
            <a:avLst/>
          </a:prstGeom>
          <a:ln w="19050"/>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4223511654"/>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539552" y="692696"/>
            <a:ext cx="7416824" cy="3693319"/>
          </a:xfrm>
          <a:prstGeom prst="rect">
            <a:avLst/>
          </a:prstGeom>
          <a:noFill/>
        </p:spPr>
        <p:txBody>
          <a:bodyPr wrap="square" rtlCol="0">
            <a:spAutoFit/>
          </a:bodyPr>
          <a:lstStyle/>
          <a:p>
            <a:r>
              <a:rPr lang="en-US" b="1" dirty="0"/>
              <a:t> </a:t>
            </a:r>
            <a:endParaRPr lang="en-US" b="1" dirty="0" smtClean="0"/>
          </a:p>
          <a:p>
            <a:r>
              <a:rPr lang="en-US" b="1" dirty="0" smtClean="0"/>
              <a:t>Hardware </a:t>
            </a:r>
            <a:r>
              <a:rPr lang="en-US" b="1" dirty="0"/>
              <a:t>and Software –</a:t>
            </a:r>
            <a:endParaRPr lang="en-IN" dirty="0"/>
          </a:p>
          <a:p>
            <a:r>
              <a:rPr lang="en-US" b="1" dirty="0"/>
              <a:t> </a:t>
            </a:r>
            <a:endParaRPr lang="en-IN" dirty="0"/>
          </a:p>
          <a:p>
            <a:r>
              <a:rPr lang="en-US" b="1" dirty="0" smtClean="0"/>
              <a:t>1 </a:t>
            </a:r>
            <a:r>
              <a:rPr lang="en-US" b="1" dirty="0"/>
              <a:t>.  </a:t>
            </a:r>
            <a:r>
              <a:rPr lang="en-US" b="1" dirty="0" err="1"/>
              <a:t>Arduino</a:t>
            </a:r>
            <a:r>
              <a:rPr lang="en-US" b="1" dirty="0"/>
              <a:t> UNO- </a:t>
            </a:r>
            <a:r>
              <a:rPr lang="en-US" dirty="0"/>
              <a:t>The </a:t>
            </a:r>
            <a:r>
              <a:rPr lang="en-US" b="1" dirty="0" err="1"/>
              <a:t>Arduino</a:t>
            </a:r>
            <a:r>
              <a:rPr lang="en-US" b="1" dirty="0"/>
              <a:t> Uno</a:t>
            </a:r>
            <a:r>
              <a:rPr lang="en-US" dirty="0"/>
              <a:t> is an Open source microcontroller board based on the Microchip ATmega328P microcontroller. The board is equipped with sets of digital and analog (I/O) pins that may be interfaced to various expansion boards (shields) and other circuits. The board has 14 digital I/O pins (six capable of PWM output), 6 analog I/O pins, and is programmable with the </a:t>
            </a:r>
            <a:r>
              <a:rPr lang="en-US" dirty="0" err="1"/>
              <a:t>Arduino</a:t>
            </a:r>
            <a:r>
              <a:rPr lang="en-US" dirty="0"/>
              <a:t> IDE (Integrated Development Environment), via a type B USB cable. It can be powered by the USB cable or by an external 9 volts, though it accepts voltages between 7 and 20 volts. </a:t>
            </a:r>
            <a:endParaRPr lang="en-US" dirty="0" smtClean="0"/>
          </a:p>
          <a:p>
            <a:endParaRPr lang="en-IN" dirty="0"/>
          </a:p>
          <a:p>
            <a:r>
              <a:rPr lang="en-US" dirty="0"/>
              <a:t>      </a:t>
            </a:r>
            <a:endParaRPr lang="en-IN" dirty="0"/>
          </a:p>
        </p:txBody>
      </p:sp>
      <p:pic>
        <p:nvPicPr>
          <p:cNvPr id="5" name="Picture 4"/>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123728" y="4109015"/>
            <a:ext cx="3960440" cy="1840265"/>
          </a:xfrm>
          <a:prstGeom prst="rect">
            <a:avLst/>
          </a:prstGeom>
        </p:spPr>
      </p:pic>
      <p:sp>
        <p:nvSpPr>
          <p:cNvPr id="7" name="TextBox 6"/>
          <p:cNvSpPr txBox="1"/>
          <p:nvPr/>
        </p:nvSpPr>
        <p:spPr>
          <a:xfrm>
            <a:off x="3203848" y="6021288"/>
            <a:ext cx="5760640" cy="646331"/>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wrap="square" rtlCol="0">
            <a:spAutoFit/>
          </a:bodyPr>
          <a:lstStyle/>
          <a:p>
            <a:r>
              <a:rPr lang="en-IN" b="1" dirty="0" smtClean="0"/>
              <a:t>Life Health Band – Health Monitoring System For       Elderly People.</a:t>
            </a:r>
          </a:p>
        </p:txBody>
      </p:sp>
      <p:pic>
        <p:nvPicPr>
          <p:cNvPr id="8" name="Picture 7"/>
          <p:cNvPicPr>
            <a:picLocks noChangeAspect="1" noChangeArrowheads="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323528" y="-35520"/>
            <a:ext cx="1181100" cy="1168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41214749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755576" y="692696"/>
            <a:ext cx="7704856" cy="5909310"/>
          </a:xfrm>
          <a:prstGeom prst="rect">
            <a:avLst/>
          </a:prstGeom>
          <a:noFill/>
        </p:spPr>
        <p:txBody>
          <a:bodyPr wrap="square" rtlCol="0">
            <a:spAutoFit/>
          </a:bodyPr>
          <a:lstStyle/>
          <a:p>
            <a:r>
              <a:rPr lang="en-IN" dirty="0"/>
              <a:t> </a:t>
            </a:r>
            <a:endParaRPr lang="en-IN" dirty="0" smtClean="0"/>
          </a:p>
          <a:p>
            <a:endParaRPr lang="en-IN" b="1" dirty="0"/>
          </a:p>
          <a:p>
            <a:r>
              <a:rPr lang="en-US" b="1" dirty="0" smtClean="0"/>
              <a:t>Technical </a:t>
            </a:r>
            <a:r>
              <a:rPr lang="en-US" b="1" dirty="0"/>
              <a:t>Specification </a:t>
            </a:r>
            <a:r>
              <a:rPr lang="en-US" b="1" dirty="0" smtClean="0"/>
              <a:t>–</a:t>
            </a:r>
          </a:p>
          <a:p>
            <a:endParaRPr lang="en-IN" dirty="0"/>
          </a:p>
          <a:p>
            <a:pPr marL="285750" lvl="0" indent="-285750">
              <a:buFont typeface="Arial" pitchFamily="34" charset="0"/>
              <a:buChar char="•"/>
            </a:pPr>
            <a:r>
              <a:rPr lang="en-US" dirty="0"/>
              <a:t>Operating Voltage: 5 Volts</a:t>
            </a:r>
            <a:endParaRPr lang="en-IN" dirty="0"/>
          </a:p>
          <a:p>
            <a:pPr marL="285750" lvl="0" indent="-285750">
              <a:buFont typeface="Arial" pitchFamily="34" charset="0"/>
              <a:buChar char="•"/>
            </a:pPr>
            <a:r>
              <a:rPr lang="en-US" dirty="0"/>
              <a:t>Input Voltage: 7 to 20 Volts</a:t>
            </a:r>
            <a:endParaRPr lang="en-IN" dirty="0"/>
          </a:p>
          <a:p>
            <a:pPr marL="285750" lvl="0" indent="-285750">
              <a:buFont typeface="Arial" pitchFamily="34" charset="0"/>
              <a:buChar char="•"/>
            </a:pPr>
            <a:r>
              <a:rPr lang="en-US" dirty="0"/>
              <a:t>Digital I/O Pins: 14 (of which 6 can provide PWM output)</a:t>
            </a:r>
            <a:endParaRPr lang="en-IN" dirty="0"/>
          </a:p>
          <a:p>
            <a:pPr marL="285750" lvl="0" indent="-285750">
              <a:buFont typeface="Arial" pitchFamily="34" charset="0"/>
              <a:buChar char="•"/>
            </a:pPr>
            <a:r>
              <a:rPr lang="en-US" dirty="0"/>
              <a:t>UART: 1</a:t>
            </a:r>
            <a:endParaRPr lang="en-IN" dirty="0"/>
          </a:p>
          <a:p>
            <a:pPr marL="285750" lvl="0" indent="-285750">
              <a:buFont typeface="Arial" pitchFamily="34" charset="0"/>
              <a:buChar char="•"/>
            </a:pPr>
            <a:r>
              <a:rPr lang="en-US" dirty="0"/>
              <a:t>I2C: 1</a:t>
            </a:r>
            <a:endParaRPr lang="en-IN" dirty="0"/>
          </a:p>
          <a:p>
            <a:pPr marL="285750" lvl="0" indent="-285750">
              <a:buFont typeface="Arial" pitchFamily="34" charset="0"/>
              <a:buChar char="•"/>
            </a:pPr>
            <a:r>
              <a:rPr lang="en-US" dirty="0"/>
              <a:t>SPPI: 1</a:t>
            </a:r>
            <a:endParaRPr lang="en-IN" dirty="0"/>
          </a:p>
          <a:p>
            <a:pPr marL="285750" lvl="0" indent="-285750">
              <a:buFont typeface="Arial" pitchFamily="34" charset="0"/>
              <a:buChar char="•"/>
            </a:pPr>
            <a:r>
              <a:rPr lang="en-US" dirty="0"/>
              <a:t>Analog Input Pins: 6</a:t>
            </a:r>
            <a:endParaRPr lang="en-IN" dirty="0"/>
          </a:p>
          <a:p>
            <a:pPr marL="285750" lvl="0" indent="-285750">
              <a:buFont typeface="Arial" pitchFamily="34" charset="0"/>
              <a:buChar char="•"/>
            </a:pPr>
            <a:r>
              <a:rPr lang="en-US" dirty="0"/>
              <a:t>DC Current per I/O Pin: 20 mA</a:t>
            </a:r>
            <a:endParaRPr lang="en-IN" dirty="0"/>
          </a:p>
          <a:p>
            <a:pPr marL="285750" lvl="0" indent="-285750">
              <a:buFont typeface="Arial" pitchFamily="34" charset="0"/>
              <a:buChar char="•"/>
            </a:pPr>
            <a:r>
              <a:rPr lang="en-US" dirty="0"/>
              <a:t>DC Current for 3.3V Pin: 50 mA</a:t>
            </a:r>
            <a:endParaRPr lang="en-IN" dirty="0"/>
          </a:p>
          <a:p>
            <a:pPr marL="285750" lvl="0" indent="-285750">
              <a:buFont typeface="Arial" pitchFamily="34" charset="0"/>
              <a:buChar char="•"/>
            </a:pPr>
            <a:r>
              <a:rPr lang="en-US" dirty="0"/>
              <a:t>Flash Memory: 32 KB of which 0.5 KB used by </a:t>
            </a:r>
            <a:r>
              <a:rPr lang="en-US" dirty="0" err="1"/>
              <a:t>bootloader</a:t>
            </a:r>
            <a:endParaRPr lang="en-IN" dirty="0"/>
          </a:p>
          <a:p>
            <a:pPr marL="285750" lvl="0" indent="-285750">
              <a:buFont typeface="Arial" pitchFamily="34" charset="0"/>
              <a:buChar char="•"/>
            </a:pPr>
            <a:r>
              <a:rPr lang="en-US" dirty="0"/>
              <a:t>SRAM: 2 KB</a:t>
            </a:r>
            <a:endParaRPr lang="en-IN" dirty="0"/>
          </a:p>
          <a:p>
            <a:pPr marL="285750" lvl="0" indent="-285750">
              <a:buFont typeface="Arial" pitchFamily="34" charset="0"/>
              <a:buChar char="•"/>
            </a:pPr>
            <a:r>
              <a:rPr lang="en-US" dirty="0"/>
              <a:t>EEPROM: 1 KB</a:t>
            </a:r>
            <a:endParaRPr lang="en-IN" dirty="0"/>
          </a:p>
          <a:p>
            <a:pPr marL="285750" lvl="0" indent="-285750">
              <a:buFont typeface="Arial" pitchFamily="34" charset="0"/>
              <a:buChar char="•"/>
            </a:pPr>
            <a:r>
              <a:rPr lang="en-US" dirty="0"/>
              <a:t>Clock Speed: 16 MHz</a:t>
            </a:r>
            <a:endParaRPr lang="en-IN" dirty="0"/>
          </a:p>
          <a:p>
            <a:pPr marL="285750" lvl="0" indent="-285750">
              <a:buFont typeface="Arial" pitchFamily="34" charset="0"/>
              <a:buChar char="•"/>
            </a:pPr>
            <a:r>
              <a:rPr lang="en-US" dirty="0"/>
              <a:t>Length: 68.6 mm</a:t>
            </a:r>
            <a:endParaRPr lang="en-IN" dirty="0"/>
          </a:p>
          <a:p>
            <a:pPr marL="285750" lvl="0" indent="-285750">
              <a:buFont typeface="Arial" pitchFamily="34" charset="0"/>
              <a:buChar char="•"/>
            </a:pPr>
            <a:r>
              <a:rPr lang="en-US" dirty="0"/>
              <a:t>Width: 53.4 mm</a:t>
            </a:r>
            <a:endParaRPr lang="en-IN" dirty="0"/>
          </a:p>
          <a:p>
            <a:pPr marL="285750" lvl="0" indent="-285750">
              <a:buFont typeface="Arial" pitchFamily="34" charset="0"/>
              <a:buChar char="•"/>
            </a:pPr>
            <a:r>
              <a:rPr lang="en-US" dirty="0"/>
              <a:t>Weight: 25 g</a:t>
            </a:r>
            <a:endParaRPr lang="en-IN" dirty="0"/>
          </a:p>
          <a:p>
            <a:pPr marL="285750" indent="-285750">
              <a:buFont typeface="Arial" pitchFamily="34" charset="0"/>
              <a:buChar char="•"/>
            </a:pPr>
            <a:endParaRPr lang="en-IN" dirty="0"/>
          </a:p>
        </p:txBody>
      </p:sp>
      <p:sp>
        <p:nvSpPr>
          <p:cNvPr id="4" name="TextBox 3"/>
          <p:cNvSpPr txBox="1"/>
          <p:nvPr/>
        </p:nvSpPr>
        <p:spPr>
          <a:xfrm>
            <a:off x="3203848" y="6072414"/>
            <a:ext cx="5760640" cy="646331"/>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wrap="square" rtlCol="0">
            <a:spAutoFit/>
          </a:bodyPr>
          <a:lstStyle/>
          <a:p>
            <a:r>
              <a:rPr lang="en-IN" b="1" dirty="0" smtClean="0"/>
              <a:t>Life Health Band – Health Monitoring System For       Elderly People.</a:t>
            </a:r>
          </a:p>
        </p:txBody>
      </p:sp>
      <p:pic>
        <p:nvPicPr>
          <p:cNvPr id="5" name="Picture 4"/>
          <p:cNvPicPr>
            <a:picLocks noChangeAspect="1" noChangeArrowheads="1"/>
          </p:cNvPicPr>
          <p:nvPr/>
        </p:nvPicPr>
        <p:blipFill>
          <a:blip r:embed="rId2">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467545" y="108496"/>
            <a:ext cx="1181100" cy="1168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56278225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35496" y="548680"/>
            <a:ext cx="9001000" cy="6463308"/>
          </a:xfrm>
          <a:prstGeom prst="rect">
            <a:avLst/>
          </a:prstGeom>
          <a:noFill/>
        </p:spPr>
        <p:txBody>
          <a:bodyPr wrap="square" rtlCol="0">
            <a:spAutoFit/>
          </a:bodyPr>
          <a:lstStyle/>
          <a:p>
            <a:r>
              <a:rPr lang="en-US" b="1" dirty="0"/>
              <a:t>2. Accelerometer – </a:t>
            </a:r>
            <a:r>
              <a:rPr lang="en-US" dirty="0"/>
              <a:t>An accelerometer is an electromechanical device that will measure acceleration forces. These forces may be static, like the constant force of gravity pulling at your feet, or they could be dynamic - caused by moving or vibrating the accelerometer.</a:t>
            </a:r>
            <a:endParaRPr lang="en-IN" dirty="0"/>
          </a:p>
          <a:p>
            <a:r>
              <a:rPr lang="en-US" dirty="0"/>
              <a:t>	By measuring the amount of static acceleration due to gravity, you can find out the angle the device is tilted at with respect to the earth. By sensing the amount of dynamic acceleration, you can analyze the way the device is moving.</a:t>
            </a:r>
            <a:endParaRPr lang="en-IN" dirty="0"/>
          </a:p>
          <a:p>
            <a:r>
              <a:rPr lang="en-US" dirty="0"/>
              <a:t>	Accelerometer will be used to locate the </a:t>
            </a:r>
            <a:r>
              <a:rPr lang="en-US" dirty="0" err="1"/>
              <a:t>vip</a:t>
            </a:r>
            <a:r>
              <a:rPr lang="en-US" dirty="0"/>
              <a:t> person on the z, y, and z axis parameters. The accelerometer will provide the location of the </a:t>
            </a:r>
            <a:r>
              <a:rPr lang="en-US" dirty="0" err="1"/>
              <a:t>vip</a:t>
            </a:r>
            <a:r>
              <a:rPr lang="en-US" dirty="0"/>
              <a:t> within the parliament location</a:t>
            </a:r>
            <a:r>
              <a:rPr lang="en-US" dirty="0" smtClean="0"/>
              <a:t>.</a:t>
            </a:r>
          </a:p>
          <a:p>
            <a:endParaRPr lang="en-US" dirty="0" smtClean="0"/>
          </a:p>
          <a:p>
            <a:r>
              <a:rPr lang="en-IN" dirty="0"/>
              <a:t> </a:t>
            </a:r>
            <a:r>
              <a:rPr lang="en-US" b="1" dirty="0"/>
              <a:t>Technical specification –</a:t>
            </a:r>
            <a:endParaRPr lang="en-IN" dirty="0"/>
          </a:p>
          <a:p>
            <a:r>
              <a:rPr lang="en-US" dirty="0"/>
              <a:t> </a:t>
            </a:r>
            <a:endParaRPr lang="en-IN" dirty="0"/>
          </a:p>
          <a:p>
            <a:pPr marL="285750" lvl="0" indent="-285750">
              <a:buFont typeface="Arial" pitchFamily="34" charset="0"/>
              <a:buChar char="•"/>
            </a:pPr>
            <a:r>
              <a:rPr lang="en-IN" dirty="0"/>
              <a:t>3-axis sensing.</a:t>
            </a:r>
          </a:p>
          <a:p>
            <a:pPr marL="285750" lvl="0" indent="-285750">
              <a:buFont typeface="Arial" pitchFamily="34" charset="0"/>
              <a:buChar char="•"/>
            </a:pPr>
            <a:r>
              <a:rPr lang="en-IN" dirty="0"/>
              <a:t>Small, low profile package.</a:t>
            </a:r>
          </a:p>
          <a:p>
            <a:pPr marL="285750" lvl="0" indent="-285750">
              <a:buFont typeface="Arial" pitchFamily="34" charset="0"/>
              <a:buChar char="•"/>
            </a:pPr>
            <a:r>
              <a:rPr lang="en-IN" dirty="0"/>
              <a:t>4mm × 4 mm × 1.45 mm LFCSP.</a:t>
            </a:r>
          </a:p>
          <a:p>
            <a:pPr marL="285750" lvl="0" indent="-285750">
              <a:buFont typeface="Arial" pitchFamily="34" charset="0"/>
              <a:buChar char="•"/>
            </a:pPr>
            <a:r>
              <a:rPr lang="en-IN" dirty="0"/>
              <a:t>Low power : 350 </a:t>
            </a:r>
            <a:r>
              <a:rPr lang="en-IN" dirty="0" err="1"/>
              <a:t>μA</a:t>
            </a:r>
            <a:r>
              <a:rPr lang="en-IN" dirty="0"/>
              <a:t> (typical)</a:t>
            </a:r>
          </a:p>
          <a:p>
            <a:pPr marL="285750" lvl="0" indent="-285750">
              <a:buFont typeface="Arial" pitchFamily="34" charset="0"/>
              <a:buChar char="•"/>
            </a:pPr>
            <a:r>
              <a:rPr lang="en-IN" dirty="0"/>
              <a:t>Single-supply operation: 1.8 V to 3.6 V.</a:t>
            </a:r>
          </a:p>
          <a:p>
            <a:pPr marL="285750" lvl="0" indent="-285750">
              <a:buFont typeface="Arial" pitchFamily="34" charset="0"/>
              <a:buChar char="•"/>
            </a:pPr>
            <a:r>
              <a:rPr lang="en-IN" dirty="0"/>
              <a:t>10,000 g shock survival.</a:t>
            </a:r>
          </a:p>
          <a:p>
            <a:pPr marL="285750" lvl="0" indent="-285750">
              <a:buFont typeface="Arial" pitchFamily="34" charset="0"/>
              <a:buChar char="•"/>
            </a:pPr>
            <a:r>
              <a:rPr lang="en-IN" dirty="0"/>
              <a:t>Excellent temperature stability.</a:t>
            </a:r>
          </a:p>
          <a:p>
            <a:pPr marL="285750" lvl="0" indent="-285750">
              <a:buFont typeface="Arial" pitchFamily="34" charset="0"/>
              <a:buChar char="•"/>
            </a:pPr>
            <a:r>
              <a:rPr lang="en-IN" dirty="0"/>
              <a:t>BW adjustment with a single capacitor per axis.</a:t>
            </a:r>
          </a:p>
          <a:p>
            <a:r>
              <a:rPr lang="en-US" dirty="0"/>
              <a:t> </a:t>
            </a:r>
            <a:endParaRPr lang="en-IN" dirty="0"/>
          </a:p>
          <a:p>
            <a:endParaRPr lang="en-IN" dirty="0"/>
          </a:p>
          <a:p>
            <a:endParaRPr lang="en-IN" dirty="0"/>
          </a:p>
        </p:txBody>
      </p:sp>
      <p:pic>
        <p:nvPicPr>
          <p:cNvPr id="4" name="Picture 3"/>
          <p:cNvPicPr/>
          <p:nvPr/>
        </p:nvPicPr>
        <p:blipFill>
          <a:blip r:embed="rId2" cstate="print">
            <a:extLst>
              <a:ext uri="{28A0092B-C50C-407E-A947-70E740481C1C}">
                <a14:useLocalDpi xmlns:a14="http://schemas.microsoft.com/office/drawing/2010/main" val="0"/>
              </a:ext>
            </a:extLst>
          </a:blip>
          <a:stretch>
            <a:fillRect/>
          </a:stretch>
        </p:blipFill>
        <p:spPr>
          <a:xfrm>
            <a:off x="5508104" y="4278873"/>
            <a:ext cx="2880320" cy="1417320"/>
          </a:xfrm>
          <a:prstGeom prst="rect">
            <a:avLst/>
          </a:prstGeom>
        </p:spPr>
      </p:pic>
      <p:sp>
        <p:nvSpPr>
          <p:cNvPr id="5" name="TextBox 4"/>
          <p:cNvSpPr txBox="1"/>
          <p:nvPr/>
        </p:nvSpPr>
        <p:spPr>
          <a:xfrm>
            <a:off x="3203848" y="6108082"/>
            <a:ext cx="5760640" cy="646331"/>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wrap="square" rtlCol="0">
            <a:spAutoFit/>
          </a:bodyPr>
          <a:lstStyle/>
          <a:p>
            <a:r>
              <a:rPr lang="en-IN" b="1" dirty="0" smtClean="0"/>
              <a:t>Life Health Band – Health Monitoring System For       Elderly People.</a:t>
            </a:r>
          </a:p>
        </p:txBody>
      </p:sp>
    </p:spTree>
    <p:extLst>
      <p:ext uri="{BB962C8B-B14F-4D97-AF65-F5344CB8AC3E}">
        <p14:creationId xmlns:p14="http://schemas.microsoft.com/office/powerpoint/2010/main" val="43264168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107505" y="620687"/>
            <a:ext cx="8928992" cy="5909310"/>
          </a:xfrm>
          <a:prstGeom prst="rect">
            <a:avLst/>
          </a:prstGeom>
          <a:noFill/>
        </p:spPr>
        <p:txBody>
          <a:bodyPr wrap="square" rtlCol="0">
            <a:spAutoFit/>
          </a:bodyPr>
          <a:lstStyle/>
          <a:p>
            <a:endParaRPr lang="en-US" b="1" dirty="0" smtClean="0"/>
          </a:p>
          <a:p>
            <a:r>
              <a:rPr lang="en-US" b="1" dirty="0" smtClean="0"/>
              <a:t>3  Temperature </a:t>
            </a:r>
            <a:r>
              <a:rPr lang="en-US" b="1" dirty="0"/>
              <a:t>sensor: LM35 – </a:t>
            </a:r>
            <a:r>
              <a:rPr lang="en-US" dirty="0"/>
              <a:t>Temperature sensor is used to sense the temperature. We have used a Temperature sensor called LM35. This temperature sensor can sense the temperature of the atmosphere around it or the temperature of any machine to which it is connected or even can give the temperature of the human body in case if used. So, irrespective of the application to which it is used, it gives the reading of the temperature. The LM35 series are precision integrated-circuit temperature sensors, whose output voltage is linearly proportional to the Celsius (Centigrade) temperature</a:t>
            </a:r>
            <a:r>
              <a:rPr lang="en-US" dirty="0" smtClean="0"/>
              <a:t>.</a:t>
            </a:r>
          </a:p>
          <a:p>
            <a:endParaRPr lang="en-IN" dirty="0"/>
          </a:p>
          <a:p>
            <a:r>
              <a:rPr lang="en-US" dirty="0"/>
              <a:t>	Temperature sensor is an analog sensor and gives the output into form of analog signal. This signal is feed to ADC which will convert it into digital form. Once converted into analog form, the microcontroller can process the digital temperature signal as per the application</a:t>
            </a:r>
            <a:r>
              <a:rPr lang="en-US" dirty="0" smtClean="0"/>
              <a:t>.</a:t>
            </a:r>
          </a:p>
          <a:p>
            <a:endParaRPr lang="en-US" dirty="0"/>
          </a:p>
          <a:p>
            <a:r>
              <a:rPr lang="en-US" b="1" dirty="0" smtClean="0"/>
              <a:t>Technical </a:t>
            </a:r>
            <a:r>
              <a:rPr lang="en-US" b="1" dirty="0"/>
              <a:t>Specification</a:t>
            </a:r>
            <a:r>
              <a:rPr lang="en-US" dirty="0"/>
              <a:t> –</a:t>
            </a:r>
            <a:endParaRPr lang="en-IN" dirty="0"/>
          </a:p>
          <a:p>
            <a:r>
              <a:rPr lang="en-US" b="1" dirty="0"/>
              <a:t> </a:t>
            </a:r>
            <a:endParaRPr lang="en-IN" dirty="0"/>
          </a:p>
          <a:p>
            <a:pPr marL="285750" lvl="0" indent="-285750">
              <a:buFont typeface="Arial" pitchFamily="34" charset="0"/>
              <a:buChar char="•"/>
            </a:pPr>
            <a:r>
              <a:rPr lang="en-IN" dirty="0"/>
              <a:t>Calibrated Directly in Celsius (Centigrade)</a:t>
            </a:r>
          </a:p>
          <a:p>
            <a:pPr marL="285750" lvl="0" indent="-285750">
              <a:buFont typeface="Arial" pitchFamily="34" charset="0"/>
              <a:buChar char="•"/>
            </a:pPr>
            <a:r>
              <a:rPr lang="en-IN" dirty="0"/>
              <a:t>Linear + 10-mV/°C Scale Factor</a:t>
            </a:r>
          </a:p>
          <a:p>
            <a:pPr marL="285750" lvl="0" indent="-285750">
              <a:buFont typeface="Arial" pitchFamily="34" charset="0"/>
              <a:buChar char="•"/>
            </a:pPr>
            <a:r>
              <a:rPr lang="en-IN" dirty="0"/>
              <a:t>0.5°C Ensured Accuracy (at 25°C)</a:t>
            </a:r>
          </a:p>
          <a:p>
            <a:pPr marL="285750" lvl="0" indent="-285750">
              <a:buFont typeface="Arial" pitchFamily="34" charset="0"/>
              <a:buChar char="•"/>
            </a:pPr>
            <a:r>
              <a:rPr lang="en-IN" dirty="0"/>
              <a:t>Rated for Full −55°C to 150°C Range</a:t>
            </a:r>
          </a:p>
          <a:p>
            <a:pPr marL="285750" indent="-285750">
              <a:buFont typeface="Arial" pitchFamily="34" charset="0"/>
              <a:buChar char="•"/>
            </a:pPr>
            <a:endParaRPr lang="en-IN" dirty="0"/>
          </a:p>
        </p:txBody>
      </p:sp>
      <p:pic>
        <p:nvPicPr>
          <p:cNvPr id="5" name="Picture 4"/>
          <p:cNvPicPr/>
          <p:nvPr/>
        </p:nvPicPr>
        <p:blipFill>
          <a:blip r:embed="rId2">
            <a:extLst>
              <a:ext uri="{28A0092B-C50C-407E-A947-70E740481C1C}">
                <a14:useLocalDpi xmlns:a14="http://schemas.microsoft.com/office/drawing/2010/main" val="0"/>
              </a:ext>
            </a:extLst>
          </a:blip>
          <a:stretch>
            <a:fillRect/>
          </a:stretch>
        </p:blipFill>
        <p:spPr>
          <a:xfrm>
            <a:off x="5508104" y="4221088"/>
            <a:ext cx="2088232" cy="1704588"/>
          </a:xfrm>
          <a:prstGeom prst="rect">
            <a:avLst/>
          </a:prstGeom>
        </p:spPr>
      </p:pic>
      <p:sp>
        <p:nvSpPr>
          <p:cNvPr id="6" name="TextBox 5"/>
          <p:cNvSpPr txBox="1"/>
          <p:nvPr/>
        </p:nvSpPr>
        <p:spPr>
          <a:xfrm>
            <a:off x="3275857" y="6165304"/>
            <a:ext cx="5760640" cy="646331"/>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wrap="square" rtlCol="0">
            <a:spAutoFit/>
          </a:bodyPr>
          <a:lstStyle/>
          <a:p>
            <a:r>
              <a:rPr lang="en-IN" b="1" dirty="0" smtClean="0"/>
              <a:t>Life Health Band – Health Monitoring System For       Elderly People.</a:t>
            </a:r>
          </a:p>
        </p:txBody>
      </p:sp>
      <p:pic>
        <p:nvPicPr>
          <p:cNvPr id="7" name="Picture 6"/>
          <p:cNvPicPr>
            <a:picLocks noChangeAspect="1" noChangeArrowheads="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323528" y="-171400"/>
            <a:ext cx="1181100" cy="1168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07809304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251520" y="476672"/>
            <a:ext cx="8568952" cy="6740307"/>
          </a:xfrm>
          <a:prstGeom prst="rect">
            <a:avLst/>
          </a:prstGeom>
          <a:noFill/>
        </p:spPr>
        <p:txBody>
          <a:bodyPr wrap="square" rtlCol="0">
            <a:spAutoFit/>
          </a:bodyPr>
          <a:lstStyle/>
          <a:p>
            <a:pPr marL="285750" lvl="0" indent="-285750">
              <a:buFont typeface="Arial" pitchFamily="34" charset="0"/>
              <a:buChar char="•"/>
            </a:pPr>
            <a:r>
              <a:rPr lang="en-IN" dirty="0"/>
              <a:t>Suitable for Remote Applications</a:t>
            </a:r>
          </a:p>
          <a:p>
            <a:pPr marL="285750" lvl="0" indent="-285750">
              <a:buFont typeface="Arial" pitchFamily="34" charset="0"/>
              <a:buChar char="•"/>
            </a:pPr>
            <a:r>
              <a:rPr lang="en-IN" dirty="0"/>
              <a:t>Low-Cost Due to Wafer-Level Trimming</a:t>
            </a:r>
          </a:p>
          <a:p>
            <a:pPr marL="285750" lvl="0" indent="-285750">
              <a:buFont typeface="Arial" pitchFamily="34" charset="0"/>
              <a:buChar char="•"/>
            </a:pPr>
            <a:r>
              <a:rPr lang="en-IN" dirty="0"/>
              <a:t>Operates From 4 V to 30 V</a:t>
            </a:r>
          </a:p>
          <a:p>
            <a:pPr marL="285750" lvl="0" indent="-285750">
              <a:buFont typeface="Arial" pitchFamily="34" charset="0"/>
              <a:buChar char="•"/>
            </a:pPr>
            <a:r>
              <a:rPr lang="en-IN" dirty="0"/>
              <a:t>Less Than 60-µA Current Drain</a:t>
            </a:r>
          </a:p>
          <a:p>
            <a:pPr marL="285750" lvl="0" indent="-285750">
              <a:buFont typeface="Arial" pitchFamily="34" charset="0"/>
              <a:buChar char="•"/>
            </a:pPr>
            <a:r>
              <a:rPr lang="en-IN" dirty="0"/>
              <a:t>Low Self-Heating, 0.08°C in Still Air</a:t>
            </a:r>
          </a:p>
          <a:p>
            <a:pPr marL="285750" lvl="0" indent="-285750">
              <a:buFont typeface="Arial" pitchFamily="34" charset="0"/>
              <a:buChar char="•"/>
            </a:pPr>
            <a:r>
              <a:rPr lang="en-IN" dirty="0"/>
              <a:t>Non-Linearity Only ±¼°C Typical</a:t>
            </a:r>
          </a:p>
          <a:p>
            <a:pPr marL="285750" lvl="0" indent="-285750">
              <a:buFont typeface="Arial" pitchFamily="34" charset="0"/>
              <a:buChar char="•"/>
            </a:pPr>
            <a:r>
              <a:rPr lang="en-IN" dirty="0"/>
              <a:t>Low-Impedance Output, 0.1 Ω for 1-mA Load</a:t>
            </a:r>
          </a:p>
          <a:p>
            <a:pPr marL="285750" indent="-285750">
              <a:buFont typeface="Arial" pitchFamily="34" charset="0"/>
              <a:buChar char="•"/>
            </a:pPr>
            <a:r>
              <a:rPr lang="en-IN" dirty="0"/>
              <a:t> </a:t>
            </a:r>
          </a:p>
          <a:p>
            <a:r>
              <a:rPr lang="en-IN" b="1" dirty="0"/>
              <a:t>4. Pulse Rate sensor – </a:t>
            </a:r>
            <a:r>
              <a:rPr lang="en-IN" dirty="0"/>
              <a:t>The Pulse sensor SEN-11574 is type of plug and play sensor most suitable for </a:t>
            </a:r>
            <a:r>
              <a:rPr lang="en-IN" dirty="0" err="1"/>
              <a:t>Arduino</a:t>
            </a:r>
            <a:r>
              <a:rPr lang="en-IN" dirty="0"/>
              <a:t>. The sensor is very easy to interface and install in any project and gives live Heart rate data. The Module is integrated with the optical amplifier and noise elimination </a:t>
            </a:r>
            <a:r>
              <a:rPr lang="en-IN" dirty="0" err="1"/>
              <a:t>ckt</a:t>
            </a:r>
            <a:r>
              <a:rPr lang="en-IN" dirty="0" smtClean="0"/>
              <a:t>.</a:t>
            </a:r>
          </a:p>
          <a:p>
            <a:endParaRPr lang="en-IN" dirty="0"/>
          </a:p>
          <a:p>
            <a:r>
              <a:rPr lang="en-IN" b="1" dirty="0"/>
              <a:t>Technical Specification </a:t>
            </a:r>
            <a:r>
              <a:rPr lang="en-IN" b="1" dirty="0" smtClean="0"/>
              <a:t>–</a:t>
            </a:r>
          </a:p>
          <a:p>
            <a:endParaRPr lang="en-IN" b="1" dirty="0"/>
          </a:p>
          <a:p>
            <a:pPr marL="285750" indent="-285750">
              <a:buFont typeface="Arial" pitchFamily="34" charset="0"/>
              <a:buChar char="•"/>
            </a:pPr>
            <a:r>
              <a:rPr lang="en-IN" dirty="0"/>
              <a:t> </a:t>
            </a:r>
            <a:r>
              <a:rPr lang="en-IN" dirty="0" smtClean="0"/>
              <a:t>Biometric </a:t>
            </a:r>
            <a:r>
              <a:rPr lang="en-IN" dirty="0"/>
              <a:t>Pulse Rate or Heart Rate detecting sensor</a:t>
            </a:r>
          </a:p>
          <a:p>
            <a:pPr marL="285750" lvl="0" indent="-285750">
              <a:buFont typeface="Arial" pitchFamily="34" charset="0"/>
              <a:buChar char="•"/>
            </a:pPr>
            <a:r>
              <a:rPr lang="en-IN" dirty="0"/>
              <a:t>Plug and Play type sensor</a:t>
            </a:r>
          </a:p>
          <a:p>
            <a:pPr marL="285750" lvl="0" indent="-285750">
              <a:buFont typeface="Arial" pitchFamily="34" charset="0"/>
              <a:buChar char="•"/>
            </a:pPr>
            <a:r>
              <a:rPr lang="en-IN" dirty="0"/>
              <a:t>Operating Voltage: +5V or +3.3V</a:t>
            </a:r>
          </a:p>
          <a:p>
            <a:pPr marL="285750" lvl="0" indent="-285750">
              <a:buFont typeface="Arial" pitchFamily="34" charset="0"/>
              <a:buChar char="•"/>
            </a:pPr>
            <a:r>
              <a:rPr lang="en-IN" dirty="0"/>
              <a:t>Current Consumption: 4mA</a:t>
            </a:r>
          </a:p>
          <a:p>
            <a:pPr marL="285750" lvl="0" indent="-285750">
              <a:buFont typeface="Arial" pitchFamily="34" charset="0"/>
              <a:buChar char="•"/>
            </a:pPr>
            <a:r>
              <a:rPr lang="en-IN" dirty="0"/>
              <a:t>Inbuilt Amplification and Noise cancellation circuit. </a:t>
            </a:r>
          </a:p>
          <a:p>
            <a:pPr marL="285750" lvl="0" indent="-285750">
              <a:buFont typeface="Arial" pitchFamily="34" charset="0"/>
              <a:buChar char="•"/>
            </a:pPr>
            <a:r>
              <a:rPr lang="en-IN" dirty="0"/>
              <a:t>Diameter: 0.625” </a:t>
            </a:r>
          </a:p>
          <a:p>
            <a:pPr marL="285750" lvl="0" indent="-285750">
              <a:buFont typeface="Arial" pitchFamily="34" charset="0"/>
              <a:buChar char="•"/>
            </a:pPr>
            <a:r>
              <a:rPr lang="en-IN" dirty="0"/>
              <a:t>Thickness: 0.125” Thick</a:t>
            </a:r>
          </a:p>
          <a:p>
            <a:endParaRPr lang="en-IN" dirty="0" smtClean="0"/>
          </a:p>
          <a:p>
            <a:endParaRPr lang="en-IN" dirty="0"/>
          </a:p>
        </p:txBody>
      </p:sp>
      <p:pic>
        <p:nvPicPr>
          <p:cNvPr id="5" name="Picture 4"/>
          <p:cNvPicPr/>
          <p:nvPr/>
        </p:nvPicPr>
        <p:blipFill>
          <a:blip r:embed="rId2">
            <a:extLst>
              <a:ext uri="{28A0092B-C50C-407E-A947-70E740481C1C}">
                <a14:useLocalDpi xmlns:a14="http://schemas.microsoft.com/office/drawing/2010/main" val="0"/>
              </a:ext>
            </a:extLst>
          </a:blip>
          <a:stretch>
            <a:fillRect/>
          </a:stretch>
        </p:blipFill>
        <p:spPr>
          <a:xfrm>
            <a:off x="5940152" y="4365104"/>
            <a:ext cx="2209800" cy="1623060"/>
          </a:xfrm>
          <a:prstGeom prst="rect">
            <a:avLst/>
          </a:prstGeom>
        </p:spPr>
      </p:pic>
      <p:sp>
        <p:nvSpPr>
          <p:cNvPr id="6" name="TextBox 5"/>
          <p:cNvSpPr txBox="1"/>
          <p:nvPr/>
        </p:nvSpPr>
        <p:spPr>
          <a:xfrm>
            <a:off x="3275856" y="6099615"/>
            <a:ext cx="5760640" cy="646331"/>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wrap="square" rtlCol="0">
            <a:spAutoFit/>
          </a:bodyPr>
          <a:lstStyle/>
          <a:p>
            <a:r>
              <a:rPr lang="en-IN" b="1" dirty="0" smtClean="0"/>
              <a:t>Life Health Band – Health Monitoring System For       Elderly People.</a:t>
            </a:r>
          </a:p>
        </p:txBody>
      </p:sp>
    </p:spTree>
    <p:extLst>
      <p:ext uri="{BB962C8B-B14F-4D97-AF65-F5344CB8AC3E}">
        <p14:creationId xmlns:p14="http://schemas.microsoft.com/office/powerpoint/2010/main" val="33767638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323528" y="548680"/>
            <a:ext cx="8352928" cy="6740307"/>
          </a:xfrm>
          <a:prstGeom prst="rect">
            <a:avLst/>
          </a:prstGeom>
          <a:noFill/>
        </p:spPr>
        <p:txBody>
          <a:bodyPr wrap="square" rtlCol="0">
            <a:spAutoFit/>
          </a:bodyPr>
          <a:lstStyle/>
          <a:p>
            <a:endParaRPr lang="en-IN" b="1" dirty="0" smtClean="0"/>
          </a:p>
          <a:p>
            <a:r>
              <a:rPr lang="en-IN" b="1" dirty="0" smtClean="0"/>
              <a:t>5</a:t>
            </a:r>
            <a:r>
              <a:rPr lang="en-IN" b="1" dirty="0"/>
              <a:t>. </a:t>
            </a:r>
            <a:r>
              <a:rPr lang="en-IN" b="1" dirty="0" err="1"/>
              <a:t>WiFi</a:t>
            </a:r>
            <a:r>
              <a:rPr lang="en-IN" b="1" dirty="0"/>
              <a:t> module for </a:t>
            </a:r>
            <a:r>
              <a:rPr lang="en-IN" b="1" dirty="0" err="1"/>
              <a:t>Arduino</a:t>
            </a:r>
            <a:r>
              <a:rPr lang="en-IN" b="1" dirty="0"/>
              <a:t> – </a:t>
            </a:r>
            <a:r>
              <a:rPr lang="en-IN" dirty="0"/>
              <a:t>The </a:t>
            </a:r>
            <a:r>
              <a:rPr lang="en-IN" dirty="0" err="1"/>
              <a:t>Arduino</a:t>
            </a:r>
            <a:r>
              <a:rPr lang="en-IN" dirty="0"/>
              <a:t> Uno </a:t>
            </a:r>
            <a:r>
              <a:rPr lang="en-IN" dirty="0" err="1"/>
              <a:t>WiFi</a:t>
            </a:r>
            <a:r>
              <a:rPr lang="en-IN" dirty="0"/>
              <a:t> is an </a:t>
            </a:r>
            <a:r>
              <a:rPr lang="en-IN" dirty="0" err="1"/>
              <a:t>Arduino</a:t>
            </a:r>
            <a:r>
              <a:rPr lang="en-IN" dirty="0"/>
              <a:t> Uno with an integrated </a:t>
            </a:r>
            <a:r>
              <a:rPr lang="en-IN" dirty="0" err="1"/>
              <a:t>WiFi</a:t>
            </a:r>
            <a:r>
              <a:rPr lang="en-IN" dirty="0"/>
              <a:t> module. The board is based on the ATmega328P with an ESP8266WiFi Module integrated. The ESP8266WiFi Module is a self contained </a:t>
            </a:r>
            <a:r>
              <a:rPr lang="en-IN" dirty="0" err="1"/>
              <a:t>SoC</a:t>
            </a:r>
            <a:r>
              <a:rPr lang="en-IN" dirty="0"/>
              <a:t> with integrated TCP/IP protocol stack that can give access to your </a:t>
            </a:r>
            <a:r>
              <a:rPr lang="en-IN" dirty="0" err="1"/>
              <a:t>WiFi</a:t>
            </a:r>
            <a:r>
              <a:rPr lang="en-IN" dirty="0"/>
              <a:t> network (or the device can act as an access point</a:t>
            </a:r>
            <a:r>
              <a:rPr lang="en-IN" dirty="0" smtClean="0"/>
              <a:t>)</a:t>
            </a:r>
          </a:p>
          <a:p>
            <a:endParaRPr lang="en-IN" dirty="0" smtClean="0"/>
          </a:p>
          <a:p>
            <a:endParaRPr lang="en-IN" dirty="0"/>
          </a:p>
          <a:p>
            <a:endParaRPr lang="en-IN" dirty="0" smtClean="0"/>
          </a:p>
          <a:p>
            <a:endParaRPr lang="en-IN" dirty="0"/>
          </a:p>
          <a:p>
            <a:r>
              <a:rPr lang="en-IN" b="1" dirty="0" smtClean="0"/>
              <a:t>Technical </a:t>
            </a:r>
            <a:r>
              <a:rPr lang="en-IN" b="1" dirty="0"/>
              <a:t>Specification </a:t>
            </a:r>
            <a:r>
              <a:rPr lang="en-IN" b="1" dirty="0" smtClean="0"/>
              <a:t>–</a:t>
            </a:r>
          </a:p>
          <a:p>
            <a:endParaRPr lang="en-IN" dirty="0"/>
          </a:p>
          <a:p>
            <a:pPr marL="285750" lvl="0" indent="-285750">
              <a:buFont typeface="Arial" pitchFamily="34" charset="0"/>
              <a:buChar char="•"/>
            </a:pPr>
            <a:r>
              <a:rPr lang="en-IN" b="1" dirty="0" smtClean="0"/>
              <a:t> </a:t>
            </a:r>
            <a:r>
              <a:rPr lang="en-IN" dirty="0"/>
              <a:t>2.4 GHz Wi-Fi (802.11 b/g/n, supporting WPA/WPA2).</a:t>
            </a:r>
          </a:p>
          <a:p>
            <a:pPr marL="285750" lvl="0" indent="-285750">
              <a:buFont typeface="Arial" pitchFamily="34" charset="0"/>
              <a:buChar char="•"/>
            </a:pPr>
            <a:r>
              <a:rPr lang="en-IN" dirty="0"/>
              <a:t>General-purpose input/output (16 GPIO).</a:t>
            </a:r>
          </a:p>
          <a:p>
            <a:pPr marL="285750" lvl="0" indent="-285750">
              <a:buFont typeface="Arial" pitchFamily="34" charset="0"/>
              <a:buChar char="•"/>
            </a:pPr>
            <a:r>
              <a:rPr lang="en-IN" dirty="0"/>
              <a:t>Inter-Integrated Circuit (I²C) serial communication protocol.</a:t>
            </a:r>
          </a:p>
          <a:p>
            <a:pPr marL="285750" lvl="0" indent="-285750">
              <a:buFont typeface="Arial" pitchFamily="34" charset="0"/>
              <a:buChar char="•"/>
            </a:pPr>
            <a:r>
              <a:rPr lang="en-IN" dirty="0" err="1"/>
              <a:t>Analog</a:t>
            </a:r>
            <a:r>
              <a:rPr lang="en-IN" dirty="0"/>
              <a:t>-to-digital conversion (10-bit ADC).</a:t>
            </a:r>
          </a:p>
          <a:p>
            <a:pPr marL="285750" lvl="0" indent="-285750">
              <a:buFont typeface="Arial" pitchFamily="34" charset="0"/>
              <a:buChar char="•"/>
            </a:pPr>
            <a:r>
              <a:rPr lang="en-IN" dirty="0"/>
              <a:t>Serial Peripheral Interface (SPI) serial communication protocol.</a:t>
            </a:r>
          </a:p>
          <a:p>
            <a:pPr marL="285750" lvl="0" indent="-285750">
              <a:buFont typeface="Arial" pitchFamily="34" charset="0"/>
              <a:buChar char="•"/>
            </a:pPr>
            <a:r>
              <a:rPr lang="en-IN" dirty="0"/>
              <a:t>I²S (Inter-IC Sound) interfaces with DMA(Direct Memory Access) (sharing pins with GPIO).</a:t>
            </a:r>
          </a:p>
          <a:p>
            <a:pPr marL="285750" lvl="0" indent="-285750">
              <a:buFont typeface="Arial" pitchFamily="34" charset="0"/>
              <a:buChar char="•"/>
            </a:pPr>
            <a:r>
              <a:rPr lang="en-IN" dirty="0"/>
              <a:t>UART (on dedicated pins, plus a transmit-only UART can be enabled on GPIO2).</a:t>
            </a:r>
          </a:p>
          <a:p>
            <a:pPr marL="285750" lvl="0" indent="-285750">
              <a:buFont typeface="Arial" pitchFamily="34" charset="0"/>
              <a:buChar char="•"/>
            </a:pPr>
            <a:r>
              <a:rPr lang="en-IN" dirty="0"/>
              <a:t>Pulse-width </a:t>
            </a:r>
            <a:r>
              <a:rPr lang="en-IN" dirty="0" smtClean="0"/>
              <a:t>modulation.</a:t>
            </a:r>
            <a:endParaRPr lang="en-IN" dirty="0"/>
          </a:p>
          <a:p>
            <a:r>
              <a:rPr lang="en-IN" dirty="0"/>
              <a:t> </a:t>
            </a:r>
          </a:p>
          <a:p>
            <a:endParaRPr lang="en-IN" dirty="0"/>
          </a:p>
          <a:p>
            <a:endParaRPr lang="en-IN" dirty="0"/>
          </a:p>
        </p:txBody>
      </p:sp>
      <p:pic>
        <p:nvPicPr>
          <p:cNvPr id="4" name="Picture 3"/>
          <p:cNvPicPr/>
          <p:nvPr/>
        </p:nvPicPr>
        <p:blipFill>
          <a:blip r:embed="rId2" cstate="print">
            <a:extLst>
              <a:ext uri="{28A0092B-C50C-407E-A947-70E740481C1C}">
                <a14:useLocalDpi xmlns:a14="http://schemas.microsoft.com/office/drawing/2010/main" val="0"/>
              </a:ext>
            </a:extLst>
          </a:blip>
          <a:stretch>
            <a:fillRect/>
          </a:stretch>
        </p:blipFill>
        <p:spPr>
          <a:xfrm>
            <a:off x="2987824" y="1988840"/>
            <a:ext cx="1965960" cy="1623060"/>
          </a:xfrm>
          <a:prstGeom prst="rect">
            <a:avLst/>
          </a:prstGeom>
        </p:spPr>
      </p:pic>
      <p:sp>
        <p:nvSpPr>
          <p:cNvPr id="5" name="TextBox 4"/>
          <p:cNvSpPr txBox="1"/>
          <p:nvPr/>
        </p:nvSpPr>
        <p:spPr>
          <a:xfrm>
            <a:off x="3419872" y="6135790"/>
            <a:ext cx="5640453" cy="646331"/>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wrap="square" rtlCol="0">
            <a:spAutoFit/>
          </a:bodyPr>
          <a:lstStyle/>
          <a:p>
            <a:r>
              <a:rPr lang="en-IN" b="1" dirty="0" smtClean="0"/>
              <a:t>Life Health Band – Health Monitoring System For       Elderly People.</a:t>
            </a:r>
          </a:p>
        </p:txBody>
      </p:sp>
      <p:pic>
        <p:nvPicPr>
          <p:cNvPr id="6" name="Picture 5"/>
          <p:cNvPicPr>
            <a:picLocks noChangeAspect="1" noChangeArrowheads="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179512" y="-171400"/>
            <a:ext cx="1181100" cy="1168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78694770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dirty="0"/>
              <a:t> </a:t>
            </a:r>
            <a:r>
              <a:rPr lang="en-US" sz="3600" dirty="0" smtClean="0"/>
              <a:t>           MQTT </a:t>
            </a:r>
            <a:r>
              <a:rPr lang="en-US" sz="3600" dirty="0"/>
              <a:t>For IOT Based Application</a:t>
            </a:r>
            <a:endParaRPr lang="en-IN" sz="3600" dirty="0"/>
          </a:p>
        </p:txBody>
      </p:sp>
      <p:pic>
        <p:nvPicPr>
          <p:cNvPr id="3" name="Picture 2"/>
          <p:cNvPicPr>
            <a:picLocks noChangeAspect="1" noChangeArrowheads="1"/>
          </p:cNvPicPr>
          <p:nvPr/>
        </p:nvPicPr>
        <p:blipFill>
          <a:blip r:embed="rId2">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334203" y="116632"/>
            <a:ext cx="1181100" cy="1168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5" name="Straight Connector 4"/>
          <p:cNvCxnSpPr/>
          <p:nvPr/>
        </p:nvCxnSpPr>
        <p:spPr>
          <a:xfrm flipH="1">
            <a:off x="0" y="1240892"/>
            <a:ext cx="914400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9" name="TextBox 8"/>
          <p:cNvSpPr txBox="1"/>
          <p:nvPr/>
        </p:nvSpPr>
        <p:spPr>
          <a:xfrm>
            <a:off x="334203" y="1340768"/>
            <a:ext cx="8712967" cy="4801314"/>
          </a:xfrm>
          <a:prstGeom prst="rect">
            <a:avLst/>
          </a:prstGeom>
          <a:noFill/>
        </p:spPr>
        <p:txBody>
          <a:bodyPr wrap="square" rtlCol="0">
            <a:spAutoFit/>
          </a:bodyPr>
          <a:lstStyle/>
          <a:p>
            <a:pPr marL="285750" indent="-285750">
              <a:buFont typeface="Wingdings" pitchFamily="2" charset="2"/>
              <a:buChar char="§"/>
            </a:pPr>
            <a:r>
              <a:rPr lang="en-IN" dirty="0"/>
              <a:t>MQTT stands for Message Queuing Telemetry Transport</a:t>
            </a:r>
            <a:r>
              <a:rPr lang="en-IN" dirty="0" smtClean="0"/>
              <a:t>.</a:t>
            </a:r>
          </a:p>
          <a:p>
            <a:endParaRPr lang="en-IN" dirty="0" smtClean="0"/>
          </a:p>
          <a:p>
            <a:pPr marL="285750" indent="-285750">
              <a:buFont typeface="Wingdings" pitchFamily="2" charset="2"/>
              <a:buChar char="§"/>
            </a:pPr>
            <a:r>
              <a:rPr lang="en-US" dirty="0" smtClean="0"/>
              <a:t>It’s a </a:t>
            </a:r>
            <a:r>
              <a:rPr lang="en-US" dirty="0"/>
              <a:t>simple publish-and-subscribe system that allows you to send and receive </a:t>
            </a:r>
            <a:r>
              <a:rPr lang="en-US" dirty="0" smtClean="0"/>
              <a:t>messages as</a:t>
            </a:r>
            <a:r>
              <a:rPr lang="en-IN" dirty="0" smtClean="0"/>
              <a:t> a client.</a:t>
            </a:r>
          </a:p>
          <a:p>
            <a:endParaRPr lang="en-IN" dirty="0" smtClean="0"/>
          </a:p>
          <a:p>
            <a:r>
              <a:rPr lang="en-IN" b="1" dirty="0" smtClean="0"/>
              <a:t>		                           Publish</a:t>
            </a:r>
          </a:p>
          <a:p>
            <a:r>
              <a:rPr lang="en-IN" dirty="0" smtClean="0"/>
              <a:t>                                                                                                                           </a:t>
            </a:r>
          </a:p>
          <a:p>
            <a:r>
              <a:rPr lang="en-IN" dirty="0" smtClean="0"/>
              <a:t>                                                              </a:t>
            </a:r>
            <a:r>
              <a:rPr lang="en-IN" b="1" dirty="0" smtClean="0"/>
              <a:t>Subscribe</a:t>
            </a:r>
          </a:p>
          <a:p>
            <a:endParaRPr lang="en-US" dirty="0" smtClean="0"/>
          </a:p>
          <a:p>
            <a:pPr marL="285750" indent="-285750">
              <a:buFont typeface="Wingdings" pitchFamily="2" charset="2"/>
              <a:buChar char="§"/>
            </a:pPr>
            <a:r>
              <a:rPr lang="en-US" dirty="0" smtClean="0"/>
              <a:t>MQTT </a:t>
            </a:r>
            <a:r>
              <a:rPr lang="en-US" dirty="0"/>
              <a:t>is a low-bandwidth messaging protocol optimized for limited applications. As a </a:t>
            </a:r>
            <a:r>
              <a:rPr lang="en-US" dirty="0" smtClean="0"/>
              <a:t>result, it’s ideal </a:t>
            </a:r>
            <a:r>
              <a:rPr lang="en-US" dirty="0"/>
              <a:t>for Internet of Things applications. </a:t>
            </a:r>
            <a:endParaRPr lang="en-US" dirty="0" smtClean="0"/>
          </a:p>
          <a:p>
            <a:endParaRPr lang="en-US" dirty="0" smtClean="0"/>
          </a:p>
          <a:p>
            <a:pPr marL="285750" indent="-285750">
              <a:buFont typeface="Wingdings" pitchFamily="2" charset="2"/>
              <a:buChar char="§"/>
            </a:pPr>
            <a:r>
              <a:rPr lang="en-US" dirty="0" smtClean="0"/>
              <a:t>You </a:t>
            </a:r>
            <a:r>
              <a:rPr lang="en-US" dirty="0"/>
              <a:t>can use MQTT to monitor outputs, read </a:t>
            </a:r>
            <a:r>
              <a:rPr lang="en-US" dirty="0" smtClean="0"/>
              <a:t>and publish </a:t>
            </a:r>
            <a:r>
              <a:rPr lang="en-US" dirty="0"/>
              <a:t>data from sensor nodes, and much more</a:t>
            </a:r>
            <a:r>
              <a:rPr lang="en-US" dirty="0" smtClean="0"/>
              <a:t>.</a:t>
            </a:r>
          </a:p>
          <a:p>
            <a:pPr marL="285750" indent="-285750">
              <a:buFont typeface="Wingdings" pitchFamily="2" charset="2"/>
              <a:buChar char="§"/>
            </a:pPr>
            <a:endParaRPr lang="en-US" dirty="0" smtClean="0"/>
          </a:p>
          <a:p>
            <a:pPr marL="285750" indent="-285750">
              <a:buFont typeface="Wingdings" pitchFamily="2" charset="2"/>
              <a:buChar char="§"/>
            </a:pPr>
            <a:r>
              <a:rPr lang="en-US" dirty="0" smtClean="0"/>
              <a:t> </a:t>
            </a:r>
            <a:r>
              <a:rPr lang="en-US" dirty="0"/>
              <a:t>As a result, establishing contact between multiple devices is incredibly simple.</a:t>
            </a:r>
            <a:endParaRPr lang="en-IN" dirty="0" smtClean="0"/>
          </a:p>
          <a:p>
            <a:endParaRPr lang="en-IN" dirty="0"/>
          </a:p>
        </p:txBody>
      </p:sp>
      <p:cxnSp>
        <p:nvCxnSpPr>
          <p:cNvPr id="11" name="Straight Arrow Connector 10"/>
          <p:cNvCxnSpPr/>
          <p:nvPr/>
        </p:nvCxnSpPr>
        <p:spPr>
          <a:xfrm>
            <a:off x="3576788" y="3140968"/>
            <a:ext cx="1054790" cy="0"/>
          </a:xfrm>
          <a:prstGeom prst="straightConnector1">
            <a:avLst/>
          </a:prstGeom>
          <a:ln w="57150">
            <a:solidFill>
              <a:srgbClr val="000066"/>
            </a:solidFill>
            <a:tailEnd type="arrow"/>
          </a:ln>
        </p:spPr>
        <p:style>
          <a:lnRef idx="1">
            <a:schemeClr val="accent1"/>
          </a:lnRef>
          <a:fillRef idx="0">
            <a:schemeClr val="accent1"/>
          </a:fillRef>
          <a:effectRef idx="0">
            <a:schemeClr val="accent1"/>
          </a:effectRef>
          <a:fontRef idx="minor">
            <a:schemeClr val="tx1"/>
          </a:fontRef>
        </p:style>
      </p:cxnSp>
      <p:cxnSp>
        <p:nvCxnSpPr>
          <p:cNvPr id="14" name="Straight Arrow Connector 13"/>
          <p:cNvCxnSpPr/>
          <p:nvPr/>
        </p:nvCxnSpPr>
        <p:spPr>
          <a:xfrm flipH="1">
            <a:off x="3517680" y="3717032"/>
            <a:ext cx="1173005" cy="0"/>
          </a:xfrm>
          <a:prstGeom prst="straightConnector1">
            <a:avLst/>
          </a:prstGeom>
          <a:ln w="57150">
            <a:solidFill>
              <a:schemeClr val="accent4">
                <a:lumMod val="60000"/>
                <a:lumOff val="40000"/>
              </a:schemeClr>
            </a:solidFill>
            <a:prstDash val="sysDash"/>
            <a:tailEnd type="arrow"/>
          </a:ln>
        </p:spPr>
        <p:style>
          <a:lnRef idx="1">
            <a:schemeClr val="accent1"/>
          </a:lnRef>
          <a:fillRef idx="0">
            <a:schemeClr val="accent1"/>
          </a:fillRef>
          <a:effectRef idx="0">
            <a:schemeClr val="accent1"/>
          </a:effectRef>
          <a:fontRef idx="minor">
            <a:schemeClr val="tx1"/>
          </a:fontRef>
        </p:style>
      </p:cxnSp>
      <p:sp>
        <p:nvSpPr>
          <p:cNvPr id="20" name="TextBox 19"/>
          <p:cNvSpPr txBox="1"/>
          <p:nvPr/>
        </p:nvSpPr>
        <p:spPr>
          <a:xfrm>
            <a:off x="3275856" y="5949280"/>
            <a:ext cx="5760640" cy="646331"/>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wrap="square" rtlCol="0">
            <a:spAutoFit/>
          </a:bodyPr>
          <a:lstStyle/>
          <a:p>
            <a:r>
              <a:rPr lang="en-IN" b="1" dirty="0" smtClean="0"/>
              <a:t>Life Health Band – Health Monitoring System For       Elderly People.</a:t>
            </a:r>
          </a:p>
        </p:txBody>
      </p:sp>
    </p:spTree>
    <p:extLst>
      <p:ext uri="{BB962C8B-B14F-4D97-AF65-F5344CB8AC3E}">
        <p14:creationId xmlns:p14="http://schemas.microsoft.com/office/powerpoint/2010/main" val="426902227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974304" y="610774"/>
            <a:ext cx="7632848" cy="3323987"/>
          </a:xfrm>
          <a:prstGeom prst="rect">
            <a:avLst/>
          </a:prstGeom>
          <a:noFill/>
        </p:spPr>
        <p:txBody>
          <a:bodyPr wrap="square" rtlCol="0">
            <a:spAutoFit/>
          </a:bodyPr>
          <a:lstStyle/>
          <a:p>
            <a:r>
              <a:rPr lang="en-IN" b="1" dirty="0" smtClean="0"/>
              <a:t>           MQTT- Broker :</a:t>
            </a:r>
          </a:p>
          <a:p>
            <a:r>
              <a:rPr lang="en-IN" b="1" dirty="0"/>
              <a:t>	</a:t>
            </a:r>
            <a:endParaRPr lang="en-IN" b="1" dirty="0" smtClean="0"/>
          </a:p>
          <a:p>
            <a:pPr marL="285750" indent="-285750">
              <a:buFont typeface="Wingdings" pitchFamily="2" charset="2"/>
              <a:buChar char="§"/>
            </a:pPr>
            <a:r>
              <a:rPr lang="en-US" dirty="0"/>
              <a:t>The broker is in charge of collecting all messages, filtering them, determining who is</a:t>
            </a:r>
          </a:p>
          <a:p>
            <a:pPr marL="285750" indent="-285750">
              <a:buFont typeface="Wingdings" pitchFamily="2" charset="2"/>
              <a:buChar char="§"/>
            </a:pPr>
            <a:r>
              <a:rPr lang="en-US" dirty="0"/>
              <a:t>interested in them, and then broadcasting the message to all subscribers clients.</a:t>
            </a:r>
          </a:p>
          <a:p>
            <a:pPr marL="285750" indent="-285750">
              <a:buFont typeface="Wingdings" pitchFamily="2" charset="2"/>
              <a:buChar char="§"/>
            </a:pPr>
            <a:r>
              <a:rPr lang="en-US" dirty="0" smtClean="0"/>
              <a:t>You </a:t>
            </a:r>
            <a:r>
              <a:rPr lang="en-US" dirty="0"/>
              <a:t>can choose from a number of brokers. However, we will use the </a:t>
            </a:r>
            <a:r>
              <a:rPr lang="en-US" dirty="0" err="1"/>
              <a:t>Mosquitto</a:t>
            </a:r>
            <a:r>
              <a:rPr lang="en-US" dirty="0"/>
              <a:t> broker in</a:t>
            </a:r>
          </a:p>
          <a:p>
            <a:pPr marL="285750" indent="-285750">
              <a:buFont typeface="Wingdings" pitchFamily="2" charset="2"/>
              <a:buChar char="§"/>
            </a:pPr>
            <a:r>
              <a:rPr lang="en-US" dirty="0"/>
              <a:t>our system</a:t>
            </a:r>
            <a:r>
              <a:rPr lang="en-US" dirty="0" smtClean="0"/>
              <a:t>, For </a:t>
            </a:r>
            <a:r>
              <a:rPr lang="en-US" dirty="0"/>
              <a:t>health band monitoring system</a:t>
            </a:r>
            <a:r>
              <a:rPr lang="en-US" dirty="0" smtClean="0"/>
              <a:t>.</a:t>
            </a:r>
          </a:p>
          <a:p>
            <a:endParaRPr lang="en-US" sz="1600" dirty="0"/>
          </a:p>
          <a:p>
            <a:endParaRPr lang="en-US" sz="1600" dirty="0" smtClean="0"/>
          </a:p>
          <a:p>
            <a:endParaRPr lang="en-IN" sz="1600" dirty="0"/>
          </a:p>
        </p:txBody>
      </p:sp>
      <p:sp>
        <p:nvSpPr>
          <p:cNvPr id="4" name="Oval 3"/>
          <p:cNvSpPr/>
          <p:nvPr/>
        </p:nvSpPr>
        <p:spPr>
          <a:xfrm>
            <a:off x="3563888" y="3986276"/>
            <a:ext cx="1656184" cy="1211937"/>
          </a:xfrm>
          <a:prstGeom prst="ellipse">
            <a:avLst/>
          </a:prstGeom>
          <a:ln w="12700"/>
        </p:spPr>
        <p:style>
          <a:lnRef idx="2">
            <a:schemeClr val="dk1"/>
          </a:lnRef>
          <a:fillRef idx="1">
            <a:schemeClr val="lt1"/>
          </a:fillRef>
          <a:effectRef idx="0">
            <a:schemeClr val="dk1"/>
          </a:effectRef>
          <a:fontRef idx="minor">
            <a:schemeClr val="dk1"/>
          </a:fontRef>
        </p:style>
        <p:txBody>
          <a:bodyPr rtlCol="0" anchor="ctr"/>
          <a:lstStyle/>
          <a:p>
            <a:pPr algn="ctr"/>
            <a:endParaRPr lang="en-IN"/>
          </a:p>
        </p:txBody>
      </p:sp>
      <p:sp>
        <p:nvSpPr>
          <p:cNvPr id="13" name="Rectangle 12"/>
          <p:cNvSpPr/>
          <p:nvPr/>
        </p:nvSpPr>
        <p:spPr>
          <a:xfrm>
            <a:off x="1522157" y="3212976"/>
            <a:ext cx="1008112" cy="648072"/>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IN"/>
          </a:p>
        </p:txBody>
      </p:sp>
      <p:sp>
        <p:nvSpPr>
          <p:cNvPr id="14" name="Rectangle 13"/>
          <p:cNvSpPr/>
          <p:nvPr/>
        </p:nvSpPr>
        <p:spPr>
          <a:xfrm>
            <a:off x="1499651" y="4268209"/>
            <a:ext cx="1008112" cy="648072"/>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IN"/>
          </a:p>
        </p:txBody>
      </p:sp>
      <p:sp>
        <p:nvSpPr>
          <p:cNvPr id="15" name="Rectangle 14"/>
          <p:cNvSpPr/>
          <p:nvPr/>
        </p:nvSpPr>
        <p:spPr>
          <a:xfrm>
            <a:off x="6271592" y="3212976"/>
            <a:ext cx="1008112" cy="648072"/>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IN"/>
          </a:p>
        </p:txBody>
      </p:sp>
      <p:sp>
        <p:nvSpPr>
          <p:cNvPr id="16" name="Rectangle 15"/>
          <p:cNvSpPr/>
          <p:nvPr/>
        </p:nvSpPr>
        <p:spPr>
          <a:xfrm>
            <a:off x="6271592" y="4251110"/>
            <a:ext cx="1008112" cy="648072"/>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IN"/>
          </a:p>
        </p:txBody>
      </p:sp>
      <p:sp>
        <p:nvSpPr>
          <p:cNvPr id="17" name="Rectangle 16"/>
          <p:cNvSpPr/>
          <p:nvPr/>
        </p:nvSpPr>
        <p:spPr>
          <a:xfrm>
            <a:off x="6300192" y="5517231"/>
            <a:ext cx="1008112" cy="648072"/>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IN" dirty="0"/>
          </a:p>
        </p:txBody>
      </p:sp>
      <p:sp>
        <p:nvSpPr>
          <p:cNvPr id="18" name="Rectangle 17"/>
          <p:cNvSpPr/>
          <p:nvPr/>
        </p:nvSpPr>
        <p:spPr>
          <a:xfrm>
            <a:off x="1482717" y="5540671"/>
            <a:ext cx="1008112" cy="648072"/>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IN"/>
          </a:p>
        </p:txBody>
      </p:sp>
      <p:cxnSp>
        <p:nvCxnSpPr>
          <p:cNvPr id="20" name="Straight Arrow Connector 19"/>
          <p:cNvCxnSpPr/>
          <p:nvPr/>
        </p:nvCxnSpPr>
        <p:spPr>
          <a:xfrm flipH="1">
            <a:off x="5076056" y="3429000"/>
            <a:ext cx="1195536" cy="734760"/>
          </a:xfrm>
          <a:prstGeom prst="straightConnector1">
            <a:avLst/>
          </a:prstGeom>
          <a:ln w="12700">
            <a:solidFill>
              <a:schemeClr val="accent6"/>
            </a:solidFill>
            <a:tailEnd type="arrow"/>
          </a:ln>
        </p:spPr>
        <p:style>
          <a:lnRef idx="1">
            <a:schemeClr val="accent1"/>
          </a:lnRef>
          <a:fillRef idx="0">
            <a:schemeClr val="accent1"/>
          </a:fillRef>
          <a:effectRef idx="0">
            <a:schemeClr val="accent1"/>
          </a:effectRef>
          <a:fontRef idx="minor">
            <a:schemeClr val="tx1"/>
          </a:fontRef>
        </p:style>
      </p:cxnSp>
      <p:cxnSp>
        <p:nvCxnSpPr>
          <p:cNvPr id="24" name="Straight Arrow Connector 23"/>
          <p:cNvCxnSpPr>
            <a:stCxn id="16" idx="1"/>
          </p:cNvCxnSpPr>
          <p:nvPr/>
        </p:nvCxnSpPr>
        <p:spPr>
          <a:xfrm flipH="1">
            <a:off x="5220072" y="4575146"/>
            <a:ext cx="1051520" cy="0"/>
          </a:xfrm>
          <a:prstGeom prst="straightConnector1">
            <a:avLst/>
          </a:prstGeom>
          <a:ln w="12700">
            <a:solidFill>
              <a:srgbClr val="002060"/>
            </a:solidFill>
            <a:tailEnd type="arrow"/>
          </a:ln>
        </p:spPr>
        <p:style>
          <a:lnRef idx="1">
            <a:schemeClr val="accent1"/>
          </a:lnRef>
          <a:fillRef idx="0">
            <a:schemeClr val="accent1"/>
          </a:fillRef>
          <a:effectRef idx="0">
            <a:schemeClr val="accent1"/>
          </a:effectRef>
          <a:fontRef idx="minor">
            <a:schemeClr val="tx1"/>
          </a:fontRef>
        </p:style>
      </p:cxnSp>
      <p:cxnSp>
        <p:nvCxnSpPr>
          <p:cNvPr id="26" name="Straight Arrow Connector 25"/>
          <p:cNvCxnSpPr>
            <a:stCxn id="17" idx="1"/>
          </p:cNvCxnSpPr>
          <p:nvPr/>
        </p:nvCxnSpPr>
        <p:spPr>
          <a:xfrm flipH="1" flipV="1">
            <a:off x="5076056" y="4916281"/>
            <a:ext cx="1224136" cy="924986"/>
          </a:xfrm>
          <a:prstGeom prst="straightConnector1">
            <a:avLst/>
          </a:prstGeom>
          <a:ln w="12700">
            <a:solidFill>
              <a:schemeClr val="accent3">
                <a:lumMod val="50000"/>
              </a:schemeClr>
            </a:solidFill>
            <a:tailEnd type="arrow"/>
          </a:ln>
        </p:spPr>
        <p:style>
          <a:lnRef idx="1">
            <a:schemeClr val="accent1"/>
          </a:lnRef>
          <a:fillRef idx="0">
            <a:schemeClr val="accent1"/>
          </a:fillRef>
          <a:effectRef idx="0">
            <a:schemeClr val="accent1"/>
          </a:effectRef>
          <a:fontRef idx="minor">
            <a:schemeClr val="tx1"/>
          </a:fontRef>
        </p:style>
      </p:cxnSp>
      <p:cxnSp>
        <p:nvCxnSpPr>
          <p:cNvPr id="28" name="Straight Arrow Connector 27"/>
          <p:cNvCxnSpPr>
            <a:stCxn id="4" idx="1"/>
          </p:cNvCxnSpPr>
          <p:nvPr/>
        </p:nvCxnSpPr>
        <p:spPr>
          <a:xfrm flipH="1" flipV="1">
            <a:off x="2530269" y="3573016"/>
            <a:ext cx="1276162" cy="590744"/>
          </a:xfrm>
          <a:prstGeom prst="straightConnector1">
            <a:avLst/>
          </a:prstGeom>
          <a:ln w="12700">
            <a:solidFill>
              <a:schemeClr val="tx2"/>
            </a:solidFill>
            <a:tailEnd type="arrow"/>
          </a:ln>
        </p:spPr>
        <p:style>
          <a:lnRef idx="1">
            <a:schemeClr val="accent1"/>
          </a:lnRef>
          <a:fillRef idx="0">
            <a:schemeClr val="accent1"/>
          </a:fillRef>
          <a:effectRef idx="0">
            <a:schemeClr val="accent1"/>
          </a:effectRef>
          <a:fontRef idx="minor">
            <a:schemeClr val="tx1"/>
          </a:fontRef>
        </p:style>
      </p:cxnSp>
      <p:cxnSp>
        <p:nvCxnSpPr>
          <p:cNvPr id="30" name="Straight Arrow Connector 29"/>
          <p:cNvCxnSpPr>
            <a:stCxn id="4" idx="2"/>
            <a:endCxn id="14" idx="3"/>
          </p:cNvCxnSpPr>
          <p:nvPr/>
        </p:nvCxnSpPr>
        <p:spPr>
          <a:xfrm flipH="1">
            <a:off x="2507763" y="4592245"/>
            <a:ext cx="1056125" cy="0"/>
          </a:xfrm>
          <a:prstGeom prst="straightConnector1">
            <a:avLst/>
          </a:prstGeom>
          <a:ln w="12700">
            <a:solidFill>
              <a:schemeClr val="accent3">
                <a:lumMod val="50000"/>
              </a:schemeClr>
            </a:solidFill>
            <a:tailEnd type="arrow"/>
          </a:ln>
        </p:spPr>
        <p:style>
          <a:lnRef idx="1">
            <a:schemeClr val="accent1"/>
          </a:lnRef>
          <a:fillRef idx="0">
            <a:schemeClr val="accent1"/>
          </a:fillRef>
          <a:effectRef idx="0">
            <a:schemeClr val="accent1"/>
          </a:effectRef>
          <a:fontRef idx="minor">
            <a:schemeClr val="tx1"/>
          </a:fontRef>
        </p:style>
      </p:cxnSp>
      <p:cxnSp>
        <p:nvCxnSpPr>
          <p:cNvPr id="32" name="Straight Arrow Connector 31"/>
          <p:cNvCxnSpPr>
            <a:stCxn id="4" idx="3"/>
            <a:endCxn id="18" idx="3"/>
          </p:cNvCxnSpPr>
          <p:nvPr/>
        </p:nvCxnSpPr>
        <p:spPr>
          <a:xfrm flipH="1">
            <a:off x="2490829" y="5020729"/>
            <a:ext cx="1315602" cy="843978"/>
          </a:xfrm>
          <a:prstGeom prst="straightConnector1">
            <a:avLst/>
          </a:prstGeom>
          <a:ln w="12700">
            <a:solidFill>
              <a:schemeClr val="accent6"/>
            </a:solidFill>
            <a:tailEnd type="arrow"/>
          </a:ln>
        </p:spPr>
        <p:style>
          <a:lnRef idx="1">
            <a:schemeClr val="accent1"/>
          </a:lnRef>
          <a:fillRef idx="0">
            <a:schemeClr val="accent1"/>
          </a:fillRef>
          <a:effectRef idx="0">
            <a:schemeClr val="accent1"/>
          </a:effectRef>
          <a:fontRef idx="minor">
            <a:schemeClr val="tx1"/>
          </a:fontRef>
        </p:style>
      </p:cxnSp>
      <p:cxnSp>
        <p:nvCxnSpPr>
          <p:cNvPr id="34" name="Straight Arrow Connector 33"/>
          <p:cNvCxnSpPr/>
          <p:nvPr/>
        </p:nvCxnSpPr>
        <p:spPr>
          <a:xfrm>
            <a:off x="2530269" y="3356992"/>
            <a:ext cx="1393659" cy="720080"/>
          </a:xfrm>
          <a:prstGeom prst="straightConnector1">
            <a:avLst/>
          </a:prstGeom>
          <a:ln w="12700">
            <a:solidFill>
              <a:schemeClr val="tx2"/>
            </a:solidFill>
            <a:prstDash val="sysDash"/>
            <a:tailEnd type="arrow"/>
          </a:ln>
        </p:spPr>
        <p:style>
          <a:lnRef idx="1">
            <a:schemeClr val="accent1"/>
          </a:lnRef>
          <a:fillRef idx="0">
            <a:schemeClr val="accent1"/>
          </a:fillRef>
          <a:effectRef idx="0">
            <a:schemeClr val="accent1"/>
          </a:effectRef>
          <a:fontRef idx="minor">
            <a:schemeClr val="tx1"/>
          </a:fontRef>
        </p:style>
      </p:cxnSp>
      <p:cxnSp>
        <p:nvCxnSpPr>
          <p:cNvPr id="36" name="Straight Arrow Connector 35"/>
          <p:cNvCxnSpPr/>
          <p:nvPr/>
        </p:nvCxnSpPr>
        <p:spPr>
          <a:xfrm>
            <a:off x="2530269" y="4437112"/>
            <a:ext cx="1033619" cy="0"/>
          </a:xfrm>
          <a:prstGeom prst="straightConnector1">
            <a:avLst/>
          </a:prstGeom>
          <a:ln w="12700">
            <a:solidFill>
              <a:schemeClr val="accent3">
                <a:lumMod val="50000"/>
              </a:schemeClr>
            </a:solidFill>
            <a:prstDash val="sysDash"/>
            <a:tailEnd type="arrow"/>
          </a:ln>
        </p:spPr>
        <p:style>
          <a:lnRef idx="1">
            <a:schemeClr val="accent1"/>
          </a:lnRef>
          <a:fillRef idx="0">
            <a:schemeClr val="accent1"/>
          </a:fillRef>
          <a:effectRef idx="0">
            <a:schemeClr val="accent1"/>
          </a:effectRef>
          <a:fontRef idx="minor">
            <a:schemeClr val="tx1"/>
          </a:fontRef>
        </p:style>
      </p:cxnSp>
      <p:cxnSp>
        <p:nvCxnSpPr>
          <p:cNvPr id="38" name="Straight Arrow Connector 37"/>
          <p:cNvCxnSpPr/>
          <p:nvPr/>
        </p:nvCxnSpPr>
        <p:spPr>
          <a:xfrm flipV="1">
            <a:off x="2530269" y="4899182"/>
            <a:ext cx="1177635" cy="762066"/>
          </a:xfrm>
          <a:prstGeom prst="straightConnector1">
            <a:avLst/>
          </a:prstGeom>
          <a:ln w="12700">
            <a:solidFill>
              <a:schemeClr val="accent6"/>
            </a:solidFill>
            <a:prstDash val="sysDash"/>
            <a:tailEnd type="arrow"/>
          </a:ln>
        </p:spPr>
        <p:style>
          <a:lnRef idx="1">
            <a:schemeClr val="accent1"/>
          </a:lnRef>
          <a:fillRef idx="0">
            <a:schemeClr val="accent1"/>
          </a:fillRef>
          <a:effectRef idx="0">
            <a:schemeClr val="accent1"/>
          </a:effectRef>
          <a:fontRef idx="minor">
            <a:schemeClr val="tx1"/>
          </a:fontRef>
        </p:style>
      </p:cxnSp>
      <p:sp>
        <p:nvSpPr>
          <p:cNvPr id="41" name="TextBox 40"/>
          <p:cNvSpPr txBox="1"/>
          <p:nvPr/>
        </p:nvSpPr>
        <p:spPr>
          <a:xfrm>
            <a:off x="1581411" y="3347700"/>
            <a:ext cx="889603" cy="369332"/>
          </a:xfrm>
          <a:prstGeom prst="rect">
            <a:avLst/>
          </a:prstGeom>
          <a:noFill/>
        </p:spPr>
        <p:txBody>
          <a:bodyPr wrap="square" rtlCol="0">
            <a:spAutoFit/>
          </a:bodyPr>
          <a:lstStyle/>
          <a:p>
            <a:r>
              <a:rPr lang="en-IN" dirty="0" smtClean="0"/>
              <a:t>DEVICE</a:t>
            </a:r>
            <a:endParaRPr lang="en-IN" dirty="0"/>
          </a:p>
        </p:txBody>
      </p:sp>
      <p:sp>
        <p:nvSpPr>
          <p:cNvPr id="43" name="TextBox 42"/>
          <p:cNvSpPr txBox="1"/>
          <p:nvPr/>
        </p:nvSpPr>
        <p:spPr>
          <a:xfrm>
            <a:off x="1591224" y="4437112"/>
            <a:ext cx="879790" cy="369332"/>
          </a:xfrm>
          <a:prstGeom prst="rect">
            <a:avLst/>
          </a:prstGeom>
          <a:noFill/>
        </p:spPr>
        <p:txBody>
          <a:bodyPr wrap="square" rtlCol="0">
            <a:spAutoFit/>
          </a:bodyPr>
          <a:lstStyle/>
          <a:p>
            <a:r>
              <a:rPr lang="en-IN" dirty="0" smtClean="0"/>
              <a:t>DEVICE</a:t>
            </a:r>
            <a:endParaRPr lang="en-IN" dirty="0"/>
          </a:p>
        </p:txBody>
      </p:sp>
      <p:sp>
        <p:nvSpPr>
          <p:cNvPr id="44" name="TextBox 43"/>
          <p:cNvSpPr txBox="1"/>
          <p:nvPr/>
        </p:nvSpPr>
        <p:spPr>
          <a:xfrm>
            <a:off x="1539090" y="5653908"/>
            <a:ext cx="879790" cy="369332"/>
          </a:xfrm>
          <a:prstGeom prst="rect">
            <a:avLst/>
          </a:prstGeom>
          <a:noFill/>
        </p:spPr>
        <p:txBody>
          <a:bodyPr wrap="square" rtlCol="0">
            <a:spAutoFit/>
          </a:bodyPr>
          <a:lstStyle/>
          <a:p>
            <a:r>
              <a:rPr lang="en-IN" dirty="0" smtClean="0"/>
              <a:t>DEVICE</a:t>
            </a:r>
            <a:endParaRPr lang="en-IN" dirty="0"/>
          </a:p>
        </p:txBody>
      </p:sp>
      <p:sp>
        <p:nvSpPr>
          <p:cNvPr id="45" name="TextBox 44"/>
          <p:cNvSpPr txBox="1"/>
          <p:nvPr/>
        </p:nvSpPr>
        <p:spPr>
          <a:xfrm>
            <a:off x="6300192" y="3352346"/>
            <a:ext cx="979512" cy="369332"/>
          </a:xfrm>
          <a:prstGeom prst="rect">
            <a:avLst/>
          </a:prstGeom>
          <a:noFill/>
        </p:spPr>
        <p:txBody>
          <a:bodyPr wrap="square" rtlCol="0">
            <a:spAutoFit/>
          </a:bodyPr>
          <a:lstStyle/>
          <a:p>
            <a:r>
              <a:rPr lang="en-IN" dirty="0" smtClean="0"/>
              <a:t>DEVICE</a:t>
            </a:r>
            <a:endParaRPr lang="en-IN" dirty="0"/>
          </a:p>
        </p:txBody>
      </p:sp>
      <p:sp>
        <p:nvSpPr>
          <p:cNvPr id="46" name="TextBox 45"/>
          <p:cNvSpPr txBox="1"/>
          <p:nvPr/>
        </p:nvSpPr>
        <p:spPr>
          <a:xfrm>
            <a:off x="6372200" y="4437112"/>
            <a:ext cx="907504" cy="369332"/>
          </a:xfrm>
          <a:prstGeom prst="rect">
            <a:avLst/>
          </a:prstGeom>
          <a:noFill/>
        </p:spPr>
        <p:txBody>
          <a:bodyPr wrap="square" rtlCol="0">
            <a:spAutoFit/>
          </a:bodyPr>
          <a:lstStyle/>
          <a:p>
            <a:r>
              <a:rPr lang="en-IN" dirty="0" smtClean="0"/>
              <a:t>DEVICE</a:t>
            </a:r>
            <a:endParaRPr lang="en-IN" dirty="0"/>
          </a:p>
        </p:txBody>
      </p:sp>
      <p:sp>
        <p:nvSpPr>
          <p:cNvPr id="47" name="TextBox 46"/>
          <p:cNvSpPr txBox="1"/>
          <p:nvPr/>
        </p:nvSpPr>
        <p:spPr>
          <a:xfrm>
            <a:off x="6372200" y="5672164"/>
            <a:ext cx="864096" cy="369332"/>
          </a:xfrm>
          <a:prstGeom prst="rect">
            <a:avLst/>
          </a:prstGeom>
          <a:noFill/>
        </p:spPr>
        <p:txBody>
          <a:bodyPr wrap="square" rtlCol="0">
            <a:spAutoFit/>
          </a:bodyPr>
          <a:lstStyle/>
          <a:p>
            <a:r>
              <a:rPr lang="en-IN" dirty="0" smtClean="0"/>
              <a:t>DEVICE</a:t>
            </a:r>
            <a:endParaRPr lang="en-IN" dirty="0"/>
          </a:p>
        </p:txBody>
      </p:sp>
      <p:sp>
        <p:nvSpPr>
          <p:cNvPr id="50" name="TextBox 49"/>
          <p:cNvSpPr txBox="1"/>
          <p:nvPr/>
        </p:nvSpPr>
        <p:spPr>
          <a:xfrm>
            <a:off x="3923928" y="4437112"/>
            <a:ext cx="1080120" cy="369332"/>
          </a:xfrm>
          <a:prstGeom prst="rect">
            <a:avLst/>
          </a:prstGeom>
          <a:noFill/>
        </p:spPr>
        <p:txBody>
          <a:bodyPr wrap="square" rtlCol="0">
            <a:spAutoFit/>
          </a:bodyPr>
          <a:lstStyle/>
          <a:p>
            <a:r>
              <a:rPr lang="en-IN" dirty="0" smtClean="0"/>
              <a:t>BROKER</a:t>
            </a:r>
            <a:endParaRPr lang="en-IN" dirty="0"/>
          </a:p>
        </p:txBody>
      </p:sp>
      <p:cxnSp>
        <p:nvCxnSpPr>
          <p:cNvPr id="52" name="Straight Arrow Connector 51"/>
          <p:cNvCxnSpPr/>
          <p:nvPr/>
        </p:nvCxnSpPr>
        <p:spPr>
          <a:xfrm flipH="1">
            <a:off x="3878440" y="6023240"/>
            <a:ext cx="1125608" cy="0"/>
          </a:xfrm>
          <a:prstGeom prst="straightConnector1">
            <a:avLst/>
          </a:prstGeom>
          <a:ln w="12700">
            <a:solidFill>
              <a:schemeClr val="tx2"/>
            </a:solidFill>
            <a:tailEnd type="arrow"/>
          </a:ln>
        </p:spPr>
        <p:style>
          <a:lnRef idx="1">
            <a:schemeClr val="accent1"/>
          </a:lnRef>
          <a:fillRef idx="0">
            <a:schemeClr val="accent1"/>
          </a:fillRef>
          <a:effectRef idx="0">
            <a:schemeClr val="accent1"/>
          </a:effectRef>
          <a:fontRef idx="minor">
            <a:schemeClr val="tx1"/>
          </a:fontRef>
        </p:style>
      </p:cxnSp>
      <p:sp>
        <p:nvSpPr>
          <p:cNvPr id="53" name="TextBox 52"/>
          <p:cNvSpPr txBox="1"/>
          <p:nvPr/>
        </p:nvSpPr>
        <p:spPr>
          <a:xfrm>
            <a:off x="3887924" y="5672164"/>
            <a:ext cx="1152128" cy="338554"/>
          </a:xfrm>
          <a:prstGeom prst="rect">
            <a:avLst/>
          </a:prstGeom>
          <a:noFill/>
        </p:spPr>
        <p:txBody>
          <a:bodyPr wrap="square" rtlCol="0">
            <a:spAutoFit/>
          </a:bodyPr>
          <a:lstStyle/>
          <a:p>
            <a:r>
              <a:rPr lang="en-IN" sz="1600" dirty="0" smtClean="0"/>
              <a:t>Publish</a:t>
            </a:r>
            <a:endParaRPr lang="en-IN" sz="1600" dirty="0"/>
          </a:p>
        </p:txBody>
      </p:sp>
      <p:cxnSp>
        <p:nvCxnSpPr>
          <p:cNvPr id="55" name="Straight Arrow Connector 54"/>
          <p:cNvCxnSpPr/>
          <p:nvPr/>
        </p:nvCxnSpPr>
        <p:spPr>
          <a:xfrm flipV="1">
            <a:off x="3923928" y="6524954"/>
            <a:ext cx="1080120" cy="390"/>
          </a:xfrm>
          <a:prstGeom prst="straightConnector1">
            <a:avLst/>
          </a:prstGeom>
          <a:ln w="12700">
            <a:solidFill>
              <a:schemeClr val="tx2"/>
            </a:solidFill>
            <a:tailEnd type="arrow"/>
          </a:ln>
        </p:spPr>
        <p:style>
          <a:lnRef idx="1">
            <a:schemeClr val="accent1"/>
          </a:lnRef>
          <a:fillRef idx="0">
            <a:schemeClr val="accent1"/>
          </a:fillRef>
          <a:effectRef idx="0">
            <a:schemeClr val="accent1"/>
          </a:effectRef>
          <a:fontRef idx="minor">
            <a:schemeClr val="tx1"/>
          </a:fontRef>
        </p:style>
      </p:cxnSp>
      <p:sp>
        <p:nvSpPr>
          <p:cNvPr id="60" name="TextBox 59"/>
          <p:cNvSpPr txBox="1"/>
          <p:nvPr/>
        </p:nvSpPr>
        <p:spPr>
          <a:xfrm>
            <a:off x="3887924" y="6155622"/>
            <a:ext cx="1152128" cy="338554"/>
          </a:xfrm>
          <a:prstGeom prst="rect">
            <a:avLst/>
          </a:prstGeom>
          <a:noFill/>
        </p:spPr>
        <p:txBody>
          <a:bodyPr wrap="square" rtlCol="0">
            <a:spAutoFit/>
          </a:bodyPr>
          <a:lstStyle/>
          <a:p>
            <a:r>
              <a:rPr lang="en-IN" sz="1600" dirty="0" smtClean="0"/>
              <a:t>Subscribe</a:t>
            </a:r>
            <a:endParaRPr lang="en-IN" sz="1600" dirty="0"/>
          </a:p>
        </p:txBody>
      </p:sp>
      <p:pic>
        <p:nvPicPr>
          <p:cNvPr id="63" name="Picture 62"/>
          <p:cNvPicPr>
            <a:picLocks noChangeAspect="1" noChangeArrowheads="1"/>
          </p:cNvPicPr>
          <p:nvPr/>
        </p:nvPicPr>
        <p:blipFill>
          <a:blip r:embed="rId2">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107504" y="0"/>
            <a:ext cx="1181100" cy="1168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16229146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WORKING</a:t>
            </a:r>
            <a:endParaRPr lang="en-IN" dirty="0"/>
          </a:p>
        </p:txBody>
      </p:sp>
      <p:pic>
        <p:nvPicPr>
          <p:cNvPr id="4" name="Picture 3"/>
          <p:cNvPicPr>
            <a:picLocks noChangeAspect="1" noChangeArrowheads="1"/>
          </p:cNvPicPr>
          <p:nvPr/>
        </p:nvPicPr>
        <p:blipFill>
          <a:blip r:embed="rId2">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467545" y="260649"/>
            <a:ext cx="1181100" cy="1168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Picture 4" descr="C:\Users\sai\Downloads\WhatsApp Image 2021-01-02 at 2.46.42 PM.jpeg"/>
          <p:cNvPicPr/>
          <p:nvPr/>
        </p:nvPicPr>
        <p:blipFill>
          <a:blip r:embed="rId3">
            <a:extLst>
              <a:ext uri="{28A0092B-C50C-407E-A947-70E740481C1C}">
                <a14:useLocalDpi xmlns:a14="http://schemas.microsoft.com/office/drawing/2010/main" val="0"/>
              </a:ext>
            </a:extLst>
          </a:blip>
          <a:srcRect/>
          <a:stretch>
            <a:fillRect/>
          </a:stretch>
        </p:blipFill>
        <p:spPr bwMode="auto">
          <a:xfrm>
            <a:off x="1467534" y="1556793"/>
            <a:ext cx="6859639" cy="4208036"/>
          </a:xfrm>
          <a:prstGeom prst="rect">
            <a:avLst/>
          </a:prstGeom>
          <a:noFill/>
          <a:ln>
            <a:noFill/>
          </a:ln>
        </p:spPr>
      </p:pic>
      <p:sp>
        <p:nvSpPr>
          <p:cNvPr id="6" name="TextBox 5"/>
          <p:cNvSpPr txBox="1"/>
          <p:nvPr/>
        </p:nvSpPr>
        <p:spPr>
          <a:xfrm>
            <a:off x="1835696" y="2924944"/>
            <a:ext cx="516488" cy="261610"/>
          </a:xfrm>
          <a:prstGeom prst="rect">
            <a:avLst/>
          </a:prstGeom>
          <a:noFill/>
        </p:spPr>
        <p:txBody>
          <a:bodyPr wrap="none" rtlCol="0">
            <a:spAutoFit/>
          </a:bodyPr>
          <a:lstStyle/>
          <a:p>
            <a:r>
              <a:rPr lang="en-IN" sz="1100" b="1" dirty="0" smtClean="0"/>
              <a:t>Temp</a:t>
            </a:r>
            <a:endParaRPr lang="en-IN" sz="1100" b="1" dirty="0"/>
          </a:p>
        </p:txBody>
      </p:sp>
      <p:cxnSp>
        <p:nvCxnSpPr>
          <p:cNvPr id="8" name="Straight Arrow Connector 7"/>
          <p:cNvCxnSpPr>
            <a:stCxn id="6" idx="3"/>
          </p:cNvCxnSpPr>
          <p:nvPr/>
        </p:nvCxnSpPr>
        <p:spPr>
          <a:xfrm>
            <a:off x="2352184" y="3055749"/>
            <a:ext cx="635640" cy="229237"/>
          </a:xfrm>
          <a:prstGeom prst="straightConnector1">
            <a:avLst/>
          </a:prstGeom>
          <a:ln>
            <a:prstDash val="sysDash"/>
            <a:tailEnd type="arrow"/>
          </a:ln>
        </p:spPr>
        <p:style>
          <a:lnRef idx="2">
            <a:schemeClr val="dk1"/>
          </a:lnRef>
          <a:fillRef idx="0">
            <a:schemeClr val="dk1"/>
          </a:fillRef>
          <a:effectRef idx="1">
            <a:schemeClr val="dk1"/>
          </a:effectRef>
          <a:fontRef idx="minor">
            <a:schemeClr val="tx1"/>
          </a:fontRef>
        </p:style>
      </p:cxnSp>
      <p:sp>
        <p:nvSpPr>
          <p:cNvPr id="9" name="TextBox 8"/>
          <p:cNvSpPr txBox="1"/>
          <p:nvPr/>
        </p:nvSpPr>
        <p:spPr>
          <a:xfrm>
            <a:off x="482330" y="5823686"/>
            <a:ext cx="1970411" cy="646331"/>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wrap="none" rtlCol="0">
            <a:spAutoFit/>
          </a:bodyPr>
          <a:lstStyle/>
          <a:p>
            <a:r>
              <a:rPr lang="en-IN" dirty="0" smtClean="0"/>
              <a:t>Thursday</a:t>
            </a:r>
          </a:p>
          <a:p>
            <a:r>
              <a:rPr lang="en-IN" dirty="0" smtClean="0"/>
              <a:t>December 03,2020</a:t>
            </a:r>
            <a:endParaRPr lang="en-IN" dirty="0"/>
          </a:p>
        </p:txBody>
      </p:sp>
      <p:sp>
        <p:nvSpPr>
          <p:cNvPr id="11" name="TextBox 10"/>
          <p:cNvSpPr txBox="1"/>
          <p:nvPr/>
        </p:nvSpPr>
        <p:spPr>
          <a:xfrm>
            <a:off x="3203849" y="5837914"/>
            <a:ext cx="5411356" cy="646331"/>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wrap="square" rtlCol="0">
            <a:spAutoFit/>
          </a:bodyPr>
          <a:lstStyle/>
          <a:p>
            <a:r>
              <a:rPr lang="en-IN" b="1" dirty="0"/>
              <a:t>Life Health Band – Health Monitoring System For      </a:t>
            </a:r>
            <a:endParaRPr lang="en-IN" b="1" dirty="0" smtClean="0"/>
          </a:p>
          <a:p>
            <a:r>
              <a:rPr lang="en-IN" b="1" dirty="0" smtClean="0"/>
              <a:t> </a:t>
            </a:r>
            <a:r>
              <a:rPr lang="en-IN" b="1" dirty="0"/>
              <a:t>Elderly People</a:t>
            </a:r>
            <a:r>
              <a:rPr lang="en-IN" b="1" dirty="0" smtClean="0"/>
              <a:t>.</a:t>
            </a:r>
            <a:endParaRPr lang="en-IN" dirty="0"/>
          </a:p>
        </p:txBody>
      </p:sp>
      <p:cxnSp>
        <p:nvCxnSpPr>
          <p:cNvPr id="13" name="Straight Connector 12"/>
          <p:cNvCxnSpPr/>
          <p:nvPr/>
        </p:nvCxnSpPr>
        <p:spPr>
          <a:xfrm>
            <a:off x="0" y="1340768"/>
            <a:ext cx="9144000" cy="0"/>
          </a:xfrm>
          <a:prstGeom prst="line">
            <a:avLst/>
          </a:prstGeom>
          <a:ln w="12700"/>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190442811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513908" y="1093251"/>
            <a:ext cx="7848872" cy="4247317"/>
          </a:xfrm>
          <a:prstGeom prst="rect">
            <a:avLst/>
          </a:prstGeom>
          <a:noFill/>
        </p:spPr>
        <p:txBody>
          <a:bodyPr wrap="square" rtlCol="0">
            <a:spAutoFit/>
          </a:bodyPr>
          <a:lstStyle/>
          <a:p>
            <a:pPr marL="285750" indent="-285750">
              <a:buFont typeface="Arial" pitchFamily="34" charset="0"/>
              <a:buChar char="•"/>
            </a:pPr>
            <a:r>
              <a:rPr lang="en-US" dirty="0"/>
              <a:t>We propose a portable and customizable </a:t>
            </a:r>
            <a:r>
              <a:rPr lang="en-US" dirty="0" err="1"/>
              <a:t>IoT</a:t>
            </a:r>
            <a:r>
              <a:rPr lang="en-US" dirty="0"/>
              <a:t> system that can be used to collect the data needed to facilitate the independent living of senior and challenged citizens to improve their quality of life</a:t>
            </a:r>
            <a:r>
              <a:rPr lang="en-US" dirty="0" smtClean="0"/>
              <a:t>.</a:t>
            </a:r>
          </a:p>
          <a:p>
            <a:pPr marL="285750" indent="-285750">
              <a:buFont typeface="Arial" pitchFamily="34" charset="0"/>
              <a:buChar char="•"/>
            </a:pPr>
            <a:r>
              <a:rPr lang="en-US" dirty="0" smtClean="0"/>
              <a:t> </a:t>
            </a:r>
            <a:r>
              <a:rPr lang="en-US" dirty="0"/>
              <a:t>The proposed system design philosophy targets are having a low-power system that can be worn during the day and be turbo charged as necessary. </a:t>
            </a:r>
            <a:endParaRPr lang="en-US" dirty="0" smtClean="0"/>
          </a:p>
          <a:p>
            <a:pPr marL="285750" indent="-285750">
              <a:buFont typeface="Arial" pitchFamily="34" charset="0"/>
              <a:buChar char="•"/>
            </a:pPr>
            <a:r>
              <a:rPr lang="en-US" dirty="0" smtClean="0"/>
              <a:t>The </a:t>
            </a:r>
            <a:r>
              <a:rPr lang="en-US" dirty="0"/>
              <a:t>system is designed to be light and comfortable to wear. Furthermore, the system is implemented using low-cost components, which makes it an affordable </a:t>
            </a:r>
            <a:r>
              <a:rPr lang="en-US" dirty="0" smtClean="0"/>
              <a:t>system</a:t>
            </a:r>
          </a:p>
          <a:p>
            <a:endParaRPr lang="en-US" dirty="0" smtClean="0"/>
          </a:p>
          <a:p>
            <a:pPr marL="285750" indent="-285750">
              <a:buFont typeface="Arial" pitchFamily="34" charset="0"/>
              <a:buChar char="•"/>
            </a:pPr>
            <a:r>
              <a:rPr lang="en-US" dirty="0"/>
              <a:t>In addition to the above medical sensor that capture the user’s health signs, light and fall detection sensors are also used. </a:t>
            </a:r>
            <a:endParaRPr lang="en-US" dirty="0" smtClean="0"/>
          </a:p>
          <a:p>
            <a:pPr marL="285750" indent="-285750">
              <a:buFont typeface="Arial" pitchFamily="34" charset="0"/>
              <a:buChar char="•"/>
            </a:pPr>
            <a:r>
              <a:rPr lang="en-US" dirty="0" smtClean="0"/>
              <a:t>The </a:t>
            </a:r>
            <a:r>
              <a:rPr lang="en-US" dirty="0"/>
              <a:t>fall detection sensor is an accelerometer that is used to determine whether </a:t>
            </a:r>
            <a:r>
              <a:rPr lang="en-US" dirty="0" smtClean="0"/>
              <a:t>the user </a:t>
            </a:r>
            <a:r>
              <a:rPr lang="en-US" dirty="0"/>
              <a:t>has fallen abruptly, Temperature changes, continuous pulse rate counting and changes in pulse rate such that warnings signals can be generated to provide the needed help.</a:t>
            </a:r>
            <a:endParaRPr lang="en-IN" dirty="0"/>
          </a:p>
        </p:txBody>
      </p:sp>
      <p:sp>
        <p:nvSpPr>
          <p:cNvPr id="5" name="TextBox 4"/>
          <p:cNvSpPr txBox="1"/>
          <p:nvPr/>
        </p:nvSpPr>
        <p:spPr>
          <a:xfrm>
            <a:off x="467546" y="6047158"/>
            <a:ext cx="1970411" cy="646331"/>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wrap="none" rtlCol="0">
            <a:spAutoFit/>
          </a:bodyPr>
          <a:lstStyle/>
          <a:p>
            <a:r>
              <a:rPr lang="en-IN" dirty="0" smtClean="0"/>
              <a:t>Thursday</a:t>
            </a:r>
          </a:p>
          <a:p>
            <a:r>
              <a:rPr lang="en-IN" dirty="0" smtClean="0"/>
              <a:t>December 03,2020</a:t>
            </a:r>
            <a:endParaRPr lang="en-IN" dirty="0"/>
          </a:p>
        </p:txBody>
      </p:sp>
      <p:sp>
        <p:nvSpPr>
          <p:cNvPr id="6" name="TextBox 5"/>
          <p:cNvSpPr txBox="1"/>
          <p:nvPr/>
        </p:nvSpPr>
        <p:spPr>
          <a:xfrm>
            <a:off x="4211962" y="6237312"/>
            <a:ext cx="184731" cy="369332"/>
          </a:xfrm>
          <a:prstGeom prst="rect">
            <a:avLst/>
          </a:prstGeom>
          <a:noFill/>
        </p:spPr>
        <p:txBody>
          <a:bodyPr wrap="none" rtlCol="0">
            <a:spAutoFit/>
          </a:bodyPr>
          <a:lstStyle/>
          <a:p>
            <a:endParaRPr lang="en-IN" dirty="0"/>
          </a:p>
        </p:txBody>
      </p:sp>
      <p:sp>
        <p:nvSpPr>
          <p:cNvPr id="7" name="TextBox 6"/>
          <p:cNvSpPr txBox="1"/>
          <p:nvPr/>
        </p:nvSpPr>
        <p:spPr>
          <a:xfrm>
            <a:off x="3563890" y="6047158"/>
            <a:ext cx="5153975" cy="646331"/>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wrap="none" rtlCol="0">
            <a:spAutoFit/>
          </a:bodyPr>
          <a:lstStyle/>
          <a:p>
            <a:r>
              <a:rPr lang="en-IN" b="1" dirty="0"/>
              <a:t>Life Health Band – Health Monitoring System For      </a:t>
            </a:r>
            <a:endParaRPr lang="en-IN" b="1" dirty="0" smtClean="0"/>
          </a:p>
          <a:p>
            <a:r>
              <a:rPr lang="en-IN" b="1" dirty="0" smtClean="0"/>
              <a:t> </a:t>
            </a:r>
            <a:r>
              <a:rPr lang="en-IN" b="1" dirty="0"/>
              <a:t>Elderly People</a:t>
            </a:r>
            <a:r>
              <a:rPr lang="en-IN" b="1" dirty="0" smtClean="0"/>
              <a:t>.</a:t>
            </a:r>
            <a:endParaRPr lang="en-IN" dirty="0"/>
          </a:p>
        </p:txBody>
      </p:sp>
      <p:pic>
        <p:nvPicPr>
          <p:cNvPr id="8" name="Picture 7"/>
          <p:cNvPicPr>
            <a:picLocks noChangeAspect="1" noChangeArrowheads="1"/>
          </p:cNvPicPr>
          <p:nvPr/>
        </p:nvPicPr>
        <p:blipFill>
          <a:blip r:embed="rId2">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355082" y="-99392"/>
            <a:ext cx="1181100" cy="1168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22943501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806293" y="1484784"/>
            <a:ext cx="7416824" cy="3693319"/>
          </a:xfrm>
          <a:prstGeom prst="rect">
            <a:avLst/>
          </a:prstGeom>
          <a:noFill/>
        </p:spPr>
        <p:txBody>
          <a:bodyPr wrap="square" rtlCol="0">
            <a:spAutoFit/>
          </a:bodyPr>
          <a:lstStyle/>
          <a:p>
            <a:pPr marL="285750" indent="-285750">
              <a:buFont typeface="Arial" pitchFamily="34" charset="0"/>
              <a:buChar char="•"/>
            </a:pPr>
            <a:r>
              <a:rPr lang="en-US" dirty="0" smtClean="0"/>
              <a:t>controller </a:t>
            </a:r>
            <a:r>
              <a:rPr lang="en-US" dirty="0"/>
              <a:t>is responsible for collecting the data of the different sensors interfaced to it, and communicating such a data to </a:t>
            </a:r>
            <a:r>
              <a:rPr lang="en-US" dirty="0" smtClean="0"/>
              <a:t>the </a:t>
            </a:r>
            <a:r>
              <a:rPr lang="en-US" dirty="0"/>
              <a:t>server for further </a:t>
            </a:r>
            <a:r>
              <a:rPr lang="en-US" dirty="0" smtClean="0"/>
              <a:t>processing.</a:t>
            </a:r>
          </a:p>
          <a:p>
            <a:pPr marL="285750" indent="-285750">
              <a:buFont typeface="Arial" pitchFamily="34" charset="0"/>
              <a:buChar char="•"/>
            </a:pPr>
            <a:r>
              <a:rPr lang="en-US" dirty="0" smtClean="0"/>
              <a:t>The Wi-Fi </a:t>
            </a:r>
            <a:r>
              <a:rPr lang="en-US" dirty="0"/>
              <a:t>transceiver is used to connect the proposed system to the </a:t>
            </a:r>
            <a:r>
              <a:rPr lang="en-US" dirty="0" smtClean="0"/>
              <a:t>Internet.</a:t>
            </a:r>
            <a:endParaRPr lang="en-US" dirty="0"/>
          </a:p>
          <a:p>
            <a:pPr marL="285750" indent="-285750">
              <a:buFont typeface="Arial" pitchFamily="34" charset="0"/>
              <a:buChar char="•"/>
            </a:pPr>
            <a:r>
              <a:rPr lang="en-US" dirty="0" smtClean="0"/>
              <a:t>The </a:t>
            </a:r>
            <a:r>
              <a:rPr lang="en-US" dirty="0"/>
              <a:t>collected user’s data is communicated to a</a:t>
            </a:r>
            <a:r>
              <a:rPr lang="en-US" dirty="0" smtClean="0"/>
              <a:t> </a:t>
            </a:r>
            <a:r>
              <a:rPr lang="en-US" dirty="0"/>
              <a:t>server which is responsible for facilitating the accessibility of such a data anywhere through the Internet</a:t>
            </a:r>
            <a:r>
              <a:rPr lang="en-US" dirty="0" smtClean="0"/>
              <a:t>.</a:t>
            </a:r>
          </a:p>
          <a:p>
            <a:pPr marL="285750" indent="-285750">
              <a:buFont typeface="Arial" pitchFamily="34" charset="0"/>
              <a:buChar char="•"/>
            </a:pPr>
            <a:r>
              <a:rPr lang="en-US" dirty="0" smtClean="0"/>
              <a:t> </a:t>
            </a:r>
            <a:r>
              <a:rPr lang="en-US" dirty="0"/>
              <a:t>T</a:t>
            </a:r>
            <a:r>
              <a:rPr lang="en-US" dirty="0" smtClean="0"/>
              <a:t>he </a:t>
            </a:r>
            <a:r>
              <a:rPr lang="en-US" dirty="0"/>
              <a:t>data can be accessed and </a:t>
            </a:r>
            <a:r>
              <a:rPr lang="en-US" dirty="0" smtClean="0"/>
              <a:t>manipulated through software tools.</a:t>
            </a:r>
          </a:p>
          <a:p>
            <a:pPr marL="285750" indent="-285750">
              <a:buFont typeface="Arial" pitchFamily="34" charset="0"/>
              <a:buChar char="•"/>
            </a:pPr>
            <a:r>
              <a:rPr lang="en-US" dirty="0" smtClean="0"/>
              <a:t>This way the patient is continuously monitored by system ,and if there are some changes in expected readings occurs then warning will sent automatically to the users doctor, family as a feedback through IoT network.</a:t>
            </a:r>
            <a:endParaRPr lang="en-IN" dirty="0"/>
          </a:p>
        </p:txBody>
      </p:sp>
      <p:sp>
        <p:nvSpPr>
          <p:cNvPr id="4" name="TextBox 3"/>
          <p:cNvSpPr txBox="1"/>
          <p:nvPr/>
        </p:nvSpPr>
        <p:spPr>
          <a:xfrm>
            <a:off x="467546" y="6021289"/>
            <a:ext cx="2023311" cy="646331"/>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wrap="none" rtlCol="0">
            <a:spAutoFit/>
          </a:bodyPr>
          <a:lstStyle/>
          <a:p>
            <a:r>
              <a:rPr lang="en-IN" dirty="0" smtClean="0"/>
              <a:t>Thursday</a:t>
            </a:r>
          </a:p>
          <a:p>
            <a:r>
              <a:rPr lang="en-IN" dirty="0" smtClean="0"/>
              <a:t>December 03, 2020</a:t>
            </a:r>
            <a:endParaRPr lang="en-IN" dirty="0"/>
          </a:p>
        </p:txBody>
      </p:sp>
      <p:sp>
        <p:nvSpPr>
          <p:cNvPr id="6" name="TextBox 5"/>
          <p:cNvSpPr txBox="1"/>
          <p:nvPr/>
        </p:nvSpPr>
        <p:spPr>
          <a:xfrm>
            <a:off x="3563888" y="6003329"/>
            <a:ext cx="5112568" cy="646331"/>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wrap="square" rtlCol="0">
            <a:spAutoFit/>
          </a:bodyPr>
          <a:lstStyle/>
          <a:p>
            <a:r>
              <a:rPr lang="en-IN" b="1" dirty="0"/>
              <a:t>Life Health Band – Health Monitoring System For       Elderly People.</a:t>
            </a:r>
          </a:p>
        </p:txBody>
      </p:sp>
      <p:pic>
        <p:nvPicPr>
          <p:cNvPr id="5" name="Picture 4"/>
          <p:cNvPicPr>
            <a:picLocks noChangeAspect="1" noChangeArrowheads="1"/>
          </p:cNvPicPr>
          <p:nvPr/>
        </p:nvPicPr>
        <p:blipFill>
          <a:blip r:embed="rId2">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467545" y="0"/>
            <a:ext cx="1181100" cy="1168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3307693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70921" y="188640"/>
            <a:ext cx="8229600" cy="1143000"/>
          </a:xfrm>
        </p:spPr>
        <p:txBody>
          <a:bodyPr>
            <a:normAutofit/>
          </a:bodyPr>
          <a:lstStyle/>
          <a:p>
            <a:r>
              <a:rPr lang="en-IN" sz="4000" dirty="0" smtClean="0"/>
              <a:t>CIRCUIT DIAGRAM</a:t>
            </a:r>
            <a:endParaRPr lang="en-IN" sz="4000" dirty="0"/>
          </a:p>
        </p:txBody>
      </p:sp>
      <p:sp>
        <p:nvSpPr>
          <p:cNvPr id="4" name="TextBox 3"/>
          <p:cNvSpPr txBox="1"/>
          <p:nvPr/>
        </p:nvSpPr>
        <p:spPr>
          <a:xfrm>
            <a:off x="3275856" y="6093296"/>
            <a:ext cx="5760640" cy="646331"/>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wrap="square" rtlCol="0">
            <a:spAutoFit/>
          </a:bodyPr>
          <a:lstStyle/>
          <a:p>
            <a:r>
              <a:rPr lang="en-IN" b="1" dirty="0" smtClean="0"/>
              <a:t>Life Health Band – Health Monitoring System For       Elderly People.</a:t>
            </a:r>
          </a:p>
        </p:txBody>
      </p:sp>
      <p:cxnSp>
        <p:nvCxnSpPr>
          <p:cNvPr id="6" name="Straight Connector 5"/>
          <p:cNvCxnSpPr/>
          <p:nvPr/>
        </p:nvCxnSpPr>
        <p:spPr>
          <a:xfrm flipH="1">
            <a:off x="0" y="1052736"/>
            <a:ext cx="914400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pic>
        <p:nvPicPr>
          <p:cNvPr id="11" name="Picture 10"/>
          <p:cNvPicPr>
            <a:picLocks noChangeAspect="1" noChangeArrowheads="1"/>
          </p:cNvPicPr>
          <p:nvPr/>
        </p:nvPicPr>
        <p:blipFill>
          <a:blip r:embed="rId2">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229237" y="0"/>
            <a:ext cx="1181100" cy="1168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29236" y="1168400"/>
            <a:ext cx="8807259" cy="4780880"/>
          </a:xfrm>
          <a:prstGeom prst="rect">
            <a:avLst/>
          </a:prstGeom>
        </p:spPr>
      </p:pic>
    </p:spTree>
    <p:extLst>
      <p:ext uri="{BB962C8B-B14F-4D97-AF65-F5344CB8AC3E}">
        <p14:creationId xmlns:p14="http://schemas.microsoft.com/office/powerpoint/2010/main" val="62259557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4000" dirty="0" smtClean="0"/>
              <a:t>RESULTS</a:t>
            </a:r>
            <a:endParaRPr lang="en-IN" sz="4000" dirty="0"/>
          </a:p>
        </p:txBody>
      </p:sp>
      <p:pic>
        <p:nvPicPr>
          <p:cNvPr id="4" name="Picture 3"/>
          <p:cNvPicPr>
            <a:picLocks noChangeAspect="1" noChangeArrowheads="1"/>
          </p:cNvPicPr>
          <p:nvPr/>
        </p:nvPicPr>
        <p:blipFill>
          <a:blip r:embed="rId2">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229237" y="0"/>
            <a:ext cx="1181100" cy="1168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6" name="Straight Connector 5"/>
          <p:cNvCxnSpPr/>
          <p:nvPr/>
        </p:nvCxnSpPr>
        <p:spPr>
          <a:xfrm>
            <a:off x="0" y="1168400"/>
            <a:ext cx="914400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pic>
        <p:nvPicPr>
          <p:cNvPr id="16" name="Picture 1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83568" y="1201689"/>
            <a:ext cx="7632848" cy="4747592"/>
          </a:xfrm>
          <a:prstGeom prst="rect">
            <a:avLst/>
          </a:prstGeom>
        </p:spPr>
      </p:pic>
      <p:sp>
        <p:nvSpPr>
          <p:cNvPr id="7" name="TextBox 6"/>
          <p:cNvSpPr txBox="1"/>
          <p:nvPr/>
        </p:nvSpPr>
        <p:spPr>
          <a:xfrm>
            <a:off x="3275856" y="6093296"/>
            <a:ext cx="5760640" cy="646331"/>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wrap="square" rtlCol="0">
            <a:spAutoFit/>
          </a:bodyPr>
          <a:lstStyle/>
          <a:p>
            <a:r>
              <a:rPr lang="en-IN" b="1" dirty="0" smtClean="0"/>
              <a:t>Life Health Band – Health Monitoring System For       Elderly People.</a:t>
            </a:r>
          </a:p>
        </p:txBody>
      </p:sp>
    </p:spTree>
    <p:extLst>
      <p:ext uri="{BB962C8B-B14F-4D97-AF65-F5344CB8AC3E}">
        <p14:creationId xmlns:p14="http://schemas.microsoft.com/office/powerpoint/2010/main" val="265630729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noChangeArrowheads="1"/>
          </p:cNvPicPr>
          <p:nvPr/>
        </p:nvPicPr>
        <p:blipFill>
          <a:blip r:embed="rId2">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229237" y="0"/>
            <a:ext cx="1181100" cy="1168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41896" y="1268760"/>
            <a:ext cx="8496944" cy="4876800"/>
          </a:xfrm>
          <a:prstGeom prst="rect">
            <a:avLst/>
          </a:prstGeom>
        </p:spPr>
      </p:pic>
      <p:sp>
        <p:nvSpPr>
          <p:cNvPr id="5" name="TextBox 4"/>
          <p:cNvSpPr txBox="1"/>
          <p:nvPr/>
        </p:nvSpPr>
        <p:spPr>
          <a:xfrm>
            <a:off x="3131840" y="6145560"/>
            <a:ext cx="5760640" cy="646331"/>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wrap="square" rtlCol="0">
            <a:spAutoFit/>
          </a:bodyPr>
          <a:lstStyle/>
          <a:p>
            <a:r>
              <a:rPr lang="en-IN" b="1" dirty="0" smtClean="0"/>
              <a:t>Life Health Band – Health Monitoring System For       Elderly People.</a:t>
            </a:r>
          </a:p>
        </p:txBody>
      </p:sp>
    </p:spTree>
    <p:extLst>
      <p:ext uri="{BB962C8B-B14F-4D97-AF65-F5344CB8AC3E}">
        <p14:creationId xmlns:p14="http://schemas.microsoft.com/office/powerpoint/2010/main" val="107717485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ADVANTAGES</a:t>
            </a:r>
            <a:endParaRPr lang="en-IN" dirty="0"/>
          </a:p>
        </p:txBody>
      </p:sp>
      <p:pic>
        <p:nvPicPr>
          <p:cNvPr id="4" name="Picture 3"/>
          <p:cNvPicPr>
            <a:picLocks noChangeAspect="1" noChangeArrowheads="1"/>
          </p:cNvPicPr>
          <p:nvPr/>
        </p:nvPicPr>
        <p:blipFill>
          <a:blip r:embed="rId2">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467545" y="260649"/>
            <a:ext cx="1181100" cy="1168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extBox 4"/>
          <p:cNvSpPr txBox="1"/>
          <p:nvPr/>
        </p:nvSpPr>
        <p:spPr>
          <a:xfrm>
            <a:off x="1574735" y="1844825"/>
            <a:ext cx="6787628" cy="3970318"/>
          </a:xfrm>
          <a:prstGeom prst="rect">
            <a:avLst/>
          </a:prstGeom>
          <a:noFill/>
        </p:spPr>
        <p:txBody>
          <a:bodyPr wrap="square" rtlCol="0">
            <a:spAutoFit/>
          </a:bodyPr>
          <a:lstStyle/>
          <a:p>
            <a:pPr marL="342900" indent="-342900">
              <a:buFont typeface="+mj-lt"/>
              <a:buAutoNum type="arabicPeriod"/>
            </a:pPr>
            <a:r>
              <a:rPr lang="en-US" dirty="0"/>
              <a:t>Health Monitoring System provides real-time analysis of the patient’s health parameters. </a:t>
            </a:r>
            <a:r>
              <a:rPr lang="en-US" dirty="0" smtClean="0"/>
              <a:t> </a:t>
            </a:r>
          </a:p>
          <a:p>
            <a:pPr marL="342900" indent="-342900">
              <a:buFont typeface="+mj-lt"/>
              <a:buAutoNum type="arabicPeriod"/>
            </a:pPr>
            <a:r>
              <a:rPr lang="en-US" dirty="0" smtClean="0"/>
              <a:t>Patients </a:t>
            </a:r>
            <a:r>
              <a:rPr lang="en-US" dirty="0"/>
              <a:t>are sharing their healthcare information in real time with their caregivers through these devices for flexible health monitoring and management. </a:t>
            </a:r>
            <a:endParaRPr lang="en-US" dirty="0" smtClean="0"/>
          </a:p>
          <a:p>
            <a:pPr marL="342900" indent="-342900">
              <a:buFont typeface="+mj-lt"/>
              <a:buAutoNum type="arabicPeriod"/>
            </a:pPr>
            <a:r>
              <a:rPr lang="en-US" dirty="0" smtClean="0"/>
              <a:t>Internet </a:t>
            </a:r>
            <a:r>
              <a:rPr lang="en-US" dirty="0"/>
              <a:t>of medical things is vastly improving the healthcare condition of patients. </a:t>
            </a:r>
            <a:endParaRPr lang="en-US" dirty="0" smtClean="0"/>
          </a:p>
          <a:p>
            <a:pPr marL="342900" indent="-342900">
              <a:buFont typeface="+mj-lt"/>
              <a:buAutoNum type="arabicPeriod"/>
            </a:pPr>
            <a:r>
              <a:rPr lang="en-US" dirty="0" smtClean="0"/>
              <a:t>It </a:t>
            </a:r>
            <a:r>
              <a:rPr lang="en-US" dirty="0"/>
              <a:t>allows patients to maintain independence, prevent complications. </a:t>
            </a:r>
            <a:endParaRPr lang="en-US" dirty="0" smtClean="0"/>
          </a:p>
          <a:p>
            <a:pPr marL="342900" indent="-342900">
              <a:buFont typeface="+mj-lt"/>
              <a:buAutoNum type="arabicPeriod"/>
            </a:pPr>
            <a:r>
              <a:rPr lang="en-US" dirty="0" smtClean="0"/>
              <a:t>In </a:t>
            </a:r>
            <a:r>
              <a:rPr lang="en-US" dirty="0"/>
              <a:t>addition, patients and their family members feel comfortable knowing that they are being monitored and will be supported if a problem arises. </a:t>
            </a:r>
            <a:endParaRPr lang="en-US" dirty="0" smtClean="0"/>
          </a:p>
          <a:p>
            <a:pPr marL="342900" indent="-342900">
              <a:buFont typeface="+mj-lt"/>
              <a:buAutoNum type="arabicPeriod"/>
            </a:pPr>
            <a:r>
              <a:rPr lang="en-US" dirty="0" smtClean="0"/>
              <a:t> </a:t>
            </a:r>
            <a:r>
              <a:rPr lang="en-US" dirty="0"/>
              <a:t>Reduce burden for caretakers. </a:t>
            </a:r>
            <a:r>
              <a:rPr lang="en-US" dirty="0" smtClean="0"/>
              <a:t> </a:t>
            </a:r>
          </a:p>
          <a:p>
            <a:pPr marL="342900" indent="-342900">
              <a:buFont typeface="+mj-lt"/>
              <a:buAutoNum type="arabicPeriod"/>
            </a:pPr>
            <a:r>
              <a:rPr lang="en-US" dirty="0" smtClean="0"/>
              <a:t>Improve </a:t>
            </a:r>
            <a:r>
              <a:rPr lang="en-US" dirty="0"/>
              <a:t>confidence on their wellbeing. </a:t>
            </a:r>
            <a:endParaRPr lang="en-IN" dirty="0"/>
          </a:p>
        </p:txBody>
      </p:sp>
      <p:sp>
        <p:nvSpPr>
          <p:cNvPr id="6" name="TextBox 5"/>
          <p:cNvSpPr txBox="1"/>
          <p:nvPr/>
        </p:nvSpPr>
        <p:spPr>
          <a:xfrm>
            <a:off x="461205" y="6021289"/>
            <a:ext cx="1970411" cy="646331"/>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wrap="none" rtlCol="0">
            <a:spAutoFit/>
          </a:bodyPr>
          <a:lstStyle/>
          <a:p>
            <a:r>
              <a:rPr lang="en-IN" dirty="0" smtClean="0"/>
              <a:t>Thursday</a:t>
            </a:r>
          </a:p>
          <a:p>
            <a:r>
              <a:rPr lang="en-IN" dirty="0" smtClean="0"/>
              <a:t>December 03,2020</a:t>
            </a:r>
            <a:endParaRPr lang="en-IN" dirty="0"/>
          </a:p>
        </p:txBody>
      </p:sp>
      <p:sp>
        <p:nvSpPr>
          <p:cNvPr id="7" name="TextBox 6"/>
          <p:cNvSpPr txBox="1"/>
          <p:nvPr/>
        </p:nvSpPr>
        <p:spPr>
          <a:xfrm>
            <a:off x="3707904" y="6021289"/>
            <a:ext cx="4968552" cy="646331"/>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wrap="square" rtlCol="0">
            <a:spAutoFit/>
          </a:bodyPr>
          <a:lstStyle/>
          <a:p>
            <a:r>
              <a:rPr lang="en-IN" b="1" dirty="0"/>
              <a:t>Life Health Band – Health Monitoring System For       </a:t>
            </a:r>
            <a:endParaRPr lang="en-IN" b="1" dirty="0" smtClean="0"/>
          </a:p>
          <a:p>
            <a:r>
              <a:rPr lang="en-IN" b="1" dirty="0" smtClean="0"/>
              <a:t>Elderly </a:t>
            </a:r>
            <a:r>
              <a:rPr lang="en-IN" b="1" dirty="0"/>
              <a:t>People</a:t>
            </a:r>
            <a:r>
              <a:rPr lang="en-IN" b="1" dirty="0" smtClean="0"/>
              <a:t>.</a:t>
            </a:r>
            <a:endParaRPr lang="en-IN" b="1" dirty="0"/>
          </a:p>
        </p:txBody>
      </p:sp>
      <p:cxnSp>
        <p:nvCxnSpPr>
          <p:cNvPr id="8" name="Straight Connector 7"/>
          <p:cNvCxnSpPr/>
          <p:nvPr/>
        </p:nvCxnSpPr>
        <p:spPr>
          <a:xfrm flipH="1">
            <a:off x="0" y="1484785"/>
            <a:ext cx="914400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3740135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4000" dirty="0" smtClean="0"/>
              <a:t>APPLICATIONS</a:t>
            </a:r>
            <a:endParaRPr lang="en-IN" sz="4000" dirty="0"/>
          </a:p>
        </p:txBody>
      </p:sp>
      <p:pic>
        <p:nvPicPr>
          <p:cNvPr id="3" name="Picture 2"/>
          <p:cNvPicPr>
            <a:picLocks noChangeAspect="1" noChangeArrowheads="1"/>
          </p:cNvPicPr>
          <p:nvPr/>
        </p:nvPicPr>
        <p:blipFill>
          <a:blip r:embed="rId2">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827584" y="188641"/>
            <a:ext cx="1296144" cy="1168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TextBox 3"/>
          <p:cNvSpPr txBox="1"/>
          <p:nvPr/>
        </p:nvSpPr>
        <p:spPr>
          <a:xfrm>
            <a:off x="1115616" y="2564904"/>
            <a:ext cx="6120680" cy="2862322"/>
          </a:xfrm>
          <a:prstGeom prst="rect">
            <a:avLst/>
          </a:prstGeom>
          <a:noFill/>
        </p:spPr>
        <p:txBody>
          <a:bodyPr wrap="square" rtlCol="0">
            <a:spAutoFit/>
          </a:bodyPr>
          <a:lstStyle/>
          <a:p>
            <a:pPr marL="285750" lvl="0" indent="-285750">
              <a:buFont typeface="Arial" pitchFamily="34" charset="0"/>
              <a:buChar char="•"/>
            </a:pPr>
            <a:r>
              <a:rPr lang="en-IN" dirty="0"/>
              <a:t>Monitor the motions and status of the person, heart beat </a:t>
            </a:r>
            <a:r>
              <a:rPr lang="en-IN" dirty="0" smtClean="0"/>
              <a:t>rate</a:t>
            </a:r>
            <a:r>
              <a:rPr lang="en-IN" dirty="0"/>
              <a:t>,</a:t>
            </a:r>
            <a:r>
              <a:rPr lang="en-IN" dirty="0" smtClean="0"/>
              <a:t> </a:t>
            </a:r>
            <a:r>
              <a:rPr lang="en-IN" dirty="0"/>
              <a:t>temperature, </a:t>
            </a:r>
            <a:r>
              <a:rPr lang="en-IN" dirty="0" smtClean="0"/>
              <a:t>up-to-date.</a:t>
            </a:r>
          </a:p>
          <a:p>
            <a:pPr marL="285750" lvl="0" indent="-285750">
              <a:buFont typeface="Arial" pitchFamily="34" charset="0"/>
              <a:buChar char="•"/>
            </a:pPr>
            <a:r>
              <a:rPr lang="en-IN" dirty="0" smtClean="0"/>
              <a:t>A</a:t>
            </a:r>
            <a:r>
              <a:rPr lang="en-IN" dirty="0"/>
              <a:t> Sudden fall due to heart attacks or loosing balance, or abnormal fall or rise in heart beat rate it alters the nearby ones of the person to get immediate </a:t>
            </a:r>
            <a:r>
              <a:rPr lang="en-IN" dirty="0" smtClean="0"/>
              <a:t>attention</a:t>
            </a:r>
          </a:p>
          <a:p>
            <a:pPr marL="285750" lvl="0" indent="-285750">
              <a:buFont typeface="Arial" pitchFamily="34" charset="0"/>
              <a:buChar char="•"/>
            </a:pPr>
            <a:r>
              <a:rPr lang="en-IN" dirty="0" smtClean="0"/>
              <a:t>The </a:t>
            </a:r>
            <a:r>
              <a:rPr lang="en-IN" dirty="0"/>
              <a:t>Health band also measures the temperature of the person in order to understand the person health condition.</a:t>
            </a:r>
          </a:p>
          <a:p>
            <a:endParaRPr lang="en-IN" dirty="0"/>
          </a:p>
          <a:p>
            <a:r>
              <a:rPr lang="en-IN" dirty="0"/>
              <a:t> </a:t>
            </a:r>
          </a:p>
          <a:p>
            <a:endParaRPr lang="en-IN" dirty="0"/>
          </a:p>
        </p:txBody>
      </p:sp>
      <p:sp>
        <p:nvSpPr>
          <p:cNvPr id="5" name="TextBox 4"/>
          <p:cNvSpPr txBox="1"/>
          <p:nvPr/>
        </p:nvSpPr>
        <p:spPr>
          <a:xfrm>
            <a:off x="323528" y="6093296"/>
            <a:ext cx="2232248" cy="646331"/>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wrap="square" rtlCol="0">
            <a:spAutoFit/>
          </a:bodyPr>
          <a:lstStyle/>
          <a:p>
            <a:r>
              <a:rPr lang="en-IN" dirty="0" smtClean="0"/>
              <a:t>Thursday</a:t>
            </a:r>
          </a:p>
          <a:p>
            <a:r>
              <a:rPr lang="en-IN" dirty="0" smtClean="0"/>
              <a:t>December 03,2020</a:t>
            </a:r>
          </a:p>
        </p:txBody>
      </p:sp>
      <p:sp>
        <p:nvSpPr>
          <p:cNvPr id="6" name="Rectangle 5"/>
          <p:cNvSpPr/>
          <p:nvPr/>
        </p:nvSpPr>
        <p:spPr>
          <a:xfrm>
            <a:off x="3126112" y="6093297"/>
            <a:ext cx="5256584" cy="646331"/>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wrap="square">
            <a:spAutoFit/>
          </a:bodyPr>
          <a:lstStyle/>
          <a:p>
            <a:r>
              <a:rPr lang="en-IN" b="1" dirty="0" smtClean="0"/>
              <a:t>Life Health Band – Health Monitoring System For       Elderly People.</a:t>
            </a:r>
          </a:p>
        </p:txBody>
      </p:sp>
      <p:cxnSp>
        <p:nvCxnSpPr>
          <p:cNvPr id="8" name="Straight Connector 7"/>
          <p:cNvCxnSpPr/>
          <p:nvPr/>
        </p:nvCxnSpPr>
        <p:spPr>
          <a:xfrm>
            <a:off x="0" y="1556792"/>
            <a:ext cx="9144000" cy="0"/>
          </a:xfrm>
          <a:prstGeom prst="line">
            <a:avLst/>
          </a:prstGeom>
          <a:ln w="19050"/>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3478311465"/>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4000" dirty="0" smtClean="0"/>
              <a:t>FUTURE SCOPE</a:t>
            </a:r>
            <a:endParaRPr lang="en-IN" sz="4000" dirty="0"/>
          </a:p>
        </p:txBody>
      </p:sp>
      <p:pic>
        <p:nvPicPr>
          <p:cNvPr id="3" name="Picture 2"/>
          <p:cNvPicPr>
            <a:picLocks noChangeAspect="1" noChangeArrowheads="1"/>
          </p:cNvPicPr>
          <p:nvPr/>
        </p:nvPicPr>
        <p:blipFill>
          <a:blip r:embed="rId2">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467545" y="260649"/>
            <a:ext cx="1181100" cy="1168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TextBox 3"/>
          <p:cNvSpPr txBox="1"/>
          <p:nvPr/>
        </p:nvSpPr>
        <p:spPr>
          <a:xfrm>
            <a:off x="1058093" y="2132857"/>
            <a:ext cx="7258323" cy="2585323"/>
          </a:xfrm>
          <a:prstGeom prst="rect">
            <a:avLst/>
          </a:prstGeom>
          <a:noFill/>
        </p:spPr>
        <p:txBody>
          <a:bodyPr wrap="square" rtlCol="0">
            <a:spAutoFit/>
          </a:bodyPr>
          <a:lstStyle/>
          <a:p>
            <a:pPr marL="285750" indent="-285750">
              <a:buFont typeface="Arial" pitchFamily="34" charset="0"/>
              <a:buChar char="•"/>
            </a:pPr>
            <a:r>
              <a:rPr lang="en-IN" dirty="0" smtClean="0"/>
              <a:t>We can add GPS Module in Patient Monitoring Using Arduino and Wi-Fi Module. This GPS Module will find out the Position or Location of patient using Longitude and Latitude received. Then it will send the location using Wi-Fi module</a:t>
            </a:r>
            <a:r>
              <a:rPr lang="en-IN" dirty="0"/>
              <a:t> </a:t>
            </a:r>
            <a:r>
              <a:rPr lang="en-IN" dirty="0" smtClean="0"/>
              <a:t>so doctors , relatives can find the position of patient.</a:t>
            </a:r>
          </a:p>
          <a:p>
            <a:pPr marL="285750" indent="-285750">
              <a:buFont typeface="Arial" pitchFamily="34" charset="0"/>
              <a:buChar char="•"/>
            </a:pPr>
            <a:endParaRPr lang="en-US" dirty="0" smtClean="0"/>
          </a:p>
          <a:p>
            <a:pPr marL="285750" indent="-285750">
              <a:buFont typeface="Arial" pitchFamily="34" charset="0"/>
              <a:buChar char="•"/>
            </a:pPr>
            <a:r>
              <a:rPr lang="en-US" dirty="0" smtClean="0"/>
              <a:t> Future </a:t>
            </a:r>
            <a:r>
              <a:rPr lang="en-US" dirty="0"/>
              <a:t>work </a:t>
            </a:r>
            <a:r>
              <a:rPr lang="en-US" dirty="0" smtClean="0"/>
              <a:t>may </a:t>
            </a:r>
            <a:r>
              <a:rPr lang="en-US" dirty="0"/>
              <a:t>include how to secure the access of the data and will develop a mobile application that allows access of the data on handheld devices.</a:t>
            </a:r>
            <a:endParaRPr lang="en-IN" dirty="0" smtClean="0"/>
          </a:p>
          <a:p>
            <a:endParaRPr lang="en-IN" dirty="0"/>
          </a:p>
        </p:txBody>
      </p:sp>
      <p:sp>
        <p:nvSpPr>
          <p:cNvPr id="8" name="TextBox 7"/>
          <p:cNvSpPr txBox="1"/>
          <p:nvPr/>
        </p:nvSpPr>
        <p:spPr>
          <a:xfrm>
            <a:off x="3851920" y="6205954"/>
            <a:ext cx="4608512" cy="369332"/>
          </a:xfrm>
          <a:prstGeom prst="rect">
            <a:avLst/>
          </a:prstGeom>
          <a:noFill/>
        </p:spPr>
        <p:txBody>
          <a:bodyPr wrap="square" rtlCol="0">
            <a:spAutoFit/>
          </a:bodyPr>
          <a:lstStyle/>
          <a:p>
            <a:endParaRPr lang="en-IN" dirty="0"/>
          </a:p>
        </p:txBody>
      </p:sp>
      <p:sp>
        <p:nvSpPr>
          <p:cNvPr id="9" name="TextBox 8"/>
          <p:cNvSpPr txBox="1"/>
          <p:nvPr/>
        </p:nvSpPr>
        <p:spPr>
          <a:xfrm>
            <a:off x="323528" y="6093296"/>
            <a:ext cx="2088232" cy="646331"/>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wrap="square" rtlCol="0">
            <a:spAutoFit/>
          </a:bodyPr>
          <a:lstStyle/>
          <a:p>
            <a:r>
              <a:rPr lang="en-IN" dirty="0" smtClean="0"/>
              <a:t>Thursday</a:t>
            </a:r>
          </a:p>
          <a:p>
            <a:r>
              <a:rPr lang="en-IN" dirty="0" smtClean="0"/>
              <a:t>December 03,2020</a:t>
            </a:r>
            <a:endParaRPr lang="en-IN" dirty="0"/>
          </a:p>
        </p:txBody>
      </p:sp>
      <p:sp>
        <p:nvSpPr>
          <p:cNvPr id="10" name="TextBox 9"/>
          <p:cNvSpPr txBox="1"/>
          <p:nvPr/>
        </p:nvSpPr>
        <p:spPr>
          <a:xfrm>
            <a:off x="3419872" y="6093297"/>
            <a:ext cx="5040560" cy="646331"/>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wrap="square" rtlCol="0">
            <a:spAutoFit/>
          </a:bodyPr>
          <a:lstStyle/>
          <a:p>
            <a:r>
              <a:rPr lang="en-IN" dirty="0" smtClean="0"/>
              <a:t>Life Health Band – Health Monitoring System For Elderly People</a:t>
            </a:r>
            <a:endParaRPr lang="en-IN" dirty="0"/>
          </a:p>
        </p:txBody>
      </p:sp>
      <p:cxnSp>
        <p:nvCxnSpPr>
          <p:cNvPr id="12" name="Straight Connector 11"/>
          <p:cNvCxnSpPr/>
          <p:nvPr/>
        </p:nvCxnSpPr>
        <p:spPr>
          <a:xfrm>
            <a:off x="0" y="1628800"/>
            <a:ext cx="9144000" cy="0"/>
          </a:xfrm>
          <a:prstGeom prst="line">
            <a:avLst/>
          </a:prstGeom>
          <a:ln w="19050"/>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481564396"/>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4000" dirty="0" smtClean="0"/>
              <a:t>CONCLUSION</a:t>
            </a:r>
            <a:endParaRPr lang="en-IN" sz="4000" dirty="0"/>
          </a:p>
        </p:txBody>
      </p:sp>
      <p:pic>
        <p:nvPicPr>
          <p:cNvPr id="3" name="Picture 2"/>
          <p:cNvPicPr>
            <a:picLocks noChangeAspect="1" noChangeArrowheads="1"/>
          </p:cNvPicPr>
          <p:nvPr/>
        </p:nvPicPr>
        <p:blipFill>
          <a:blip r:embed="rId2">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971601" y="332656"/>
            <a:ext cx="1181100" cy="1168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TextBox 3"/>
          <p:cNvSpPr txBox="1"/>
          <p:nvPr/>
        </p:nvSpPr>
        <p:spPr>
          <a:xfrm>
            <a:off x="827584" y="2204865"/>
            <a:ext cx="7632848" cy="2585323"/>
          </a:xfrm>
          <a:prstGeom prst="rect">
            <a:avLst/>
          </a:prstGeom>
          <a:noFill/>
        </p:spPr>
        <p:txBody>
          <a:bodyPr wrap="square" rtlCol="0">
            <a:spAutoFit/>
          </a:bodyPr>
          <a:lstStyle/>
          <a:p>
            <a:r>
              <a:rPr lang="en-US" dirty="0"/>
              <a:t>In </a:t>
            </a:r>
            <a:r>
              <a:rPr lang="en-US" dirty="0" smtClean="0"/>
              <a:t>this Project, </a:t>
            </a:r>
            <a:r>
              <a:rPr lang="en-US" dirty="0"/>
              <a:t>we have presented a low-power wearable IoT system for active and assisted living healthcare applications. We have outlined the main components of the proposed system and explained their implementation </a:t>
            </a:r>
            <a:r>
              <a:rPr lang="en-US" dirty="0" smtClean="0"/>
              <a:t>details. </a:t>
            </a:r>
            <a:endParaRPr lang="en-US" dirty="0" smtClean="0"/>
          </a:p>
          <a:p>
            <a:endParaRPr lang="en-US" dirty="0" smtClean="0"/>
          </a:p>
          <a:p>
            <a:r>
              <a:rPr lang="en-US" dirty="0" smtClean="0"/>
              <a:t>The </a:t>
            </a:r>
            <a:r>
              <a:rPr lang="en-US" dirty="0"/>
              <a:t>preliminary performance evaluation results have demonstrated the efficiency of the proposed </a:t>
            </a:r>
            <a:r>
              <a:rPr lang="en-US" dirty="0" smtClean="0"/>
              <a:t>system </a:t>
            </a:r>
            <a:r>
              <a:rPr lang="en-US" dirty="0"/>
              <a:t>despite being a low-cost one. This makes the proposed system a good candidate for implementing a wide set of wearable healthcare systems.</a:t>
            </a:r>
            <a:endParaRPr lang="en-IN" dirty="0"/>
          </a:p>
        </p:txBody>
      </p:sp>
      <p:sp>
        <p:nvSpPr>
          <p:cNvPr id="5" name="TextBox 4"/>
          <p:cNvSpPr txBox="1"/>
          <p:nvPr/>
        </p:nvSpPr>
        <p:spPr>
          <a:xfrm>
            <a:off x="323528" y="6093296"/>
            <a:ext cx="2232248" cy="646331"/>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wrap="square" rtlCol="0">
            <a:spAutoFit/>
          </a:bodyPr>
          <a:lstStyle/>
          <a:p>
            <a:r>
              <a:rPr lang="en-IN" dirty="0" smtClean="0"/>
              <a:t>Thursday</a:t>
            </a:r>
          </a:p>
          <a:p>
            <a:r>
              <a:rPr lang="en-IN" dirty="0" smtClean="0"/>
              <a:t>December 03,2020</a:t>
            </a:r>
          </a:p>
        </p:txBody>
      </p:sp>
      <p:sp>
        <p:nvSpPr>
          <p:cNvPr id="6" name="Rectangle 5"/>
          <p:cNvSpPr/>
          <p:nvPr/>
        </p:nvSpPr>
        <p:spPr>
          <a:xfrm>
            <a:off x="3108388" y="6082372"/>
            <a:ext cx="5400600" cy="646331"/>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wrap="square">
            <a:spAutoFit/>
          </a:bodyPr>
          <a:lstStyle/>
          <a:p>
            <a:r>
              <a:rPr lang="en-IN" b="1" dirty="0" smtClean="0"/>
              <a:t>Life Health Band – Health Monitoring System For       Elderly People.</a:t>
            </a:r>
          </a:p>
        </p:txBody>
      </p:sp>
      <p:cxnSp>
        <p:nvCxnSpPr>
          <p:cNvPr id="8" name="Straight Connector 7"/>
          <p:cNvCxnSpPr/>
          <p:nvPr/>
        </p:nvCxnSpPr>
        <p:spPr>
          <a:xfrm>
            <a:off x="0" y="1501056"/>
            <a:ext cx="9144000" cy="0"/>
          </a:xfrm>
          <a:prstGeom prst="line">
            <a:avLst/>
          </a:prstGeom>
          <a:ln w="19050"/>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2442852239"/>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REFERENCES</a:t>
            </a:r>
            <a:endParaRPr lang="en-IN" dirty="0"/>
          </a:p>
        </p:txBody>
      </p:sp>
      <p:pic>
        <p:nvPicPr>
          <p:cNvPr id="3" name="Picture 2"/>
          <p:cNvPicPr>
            <a:picLocks noChangeAspect="1" noChangeArrowheads="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683568" y="260649"/>
            <a:ext cx="1440160" cy="1168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TextBox 3"/>
          <p:cNvSpPr txBox="1"/>
          <p:nvPr/>
        </p:nvSpPr>
        <p:spPr>
          <a:xfrm>
            <a:off x="179512" y="1615147"/>
            <a:ext cx="8856984" cy="4801314"/>
          </a:xfrm>
          <a:prstGeom prst="rect">
            <a:avLst/>
          </a:prstGeom>
          <a:noFill/>
        </p:spPr>
        <p:txBody>
          <a:bodyPr wrap="square" rtlCol="0">
            <a:spAutoFit/>
          </a:bodyPr>
          <a:lstStyle/>
          <a:p>
            <a:pPr marL="342900" lvl="0" indent="-342900">
              <a:buFont typeface="+mj-lt"/>
              <a:buAutoNum type="arabicPeriod"/>
            </a:pPr>
            <a:r>
              <a:rPr lang="en-US" dirty="0" smtClean="0"/>
              <a:t>1.D</a:t>
            </a:r>
            <a:r>
              <a:rPr lang="en-US" dirty="0"/>
              <a:t>. </a:t>
            </a:r>
            <a:r>
              <a:rPr lang="en-US" dirty="0" err="1"/>
              <a:t>Kajaree</a:t>
            </a:r>
            <a:r>
              <a:rPr lang="en-US" dirty="0"/>
              <a:t> and R. . </a:t>
            </a:r>
            <a:r>
              <a:rPr lang="en-US" dirty="0" err="1"/>
              <a:t>Behera</a:t>
            </a:r>
            <a:r>
              <a:rPr lang="en-US" dirty="0"/>
              <a:t>, “A Survey on Healthcare Monitoring System Using Body Sensor Network,” Int. J. </a:t>
            </a:r>
            <a:r>
              <a:rPr lang="en-US" dirty="0" err="1"/>
              <a:t>Innov</a:t>
            </a:r>
            <a:r>
              <a:rPr lang="en-US" dirty="0"/>
              <a:t>. Res. </a:t>
            </a:r>
            <a:r>
              <a:rPr lang="en-US" dirty="0" err="1"/>
              <a:t>Comput</a:t>
            </a:r>
            <a:r>
              <a:rPr lang="en-US" dirty="0"/>
              <a:t>. </a:t>
            </a:r>
            <a:r>
              <a:rPr lang="en-US" dirty="0" err="1"/>
              <a:t>Commun</a:t>
            </a:r>
            <a:r>
              <a:rPr lang="en-US" dirty="0"/>
              <a:t>. Eng., vol. 5, no. 2, pp. 1302–1309, 2017. </a:t>
            </a:r>
            <a:endParaRPr lang="en-US" dirty="0" smtClean="0"/>
          </a:p>
          <a:p>
            <a:pPr marL="342900" lvl="0" indent="-342900">
              <a:buFont typeface="+mj-lt"/>
              <a:buAutoNum type="arabicPeriod"/>
            </a:pPr>
            <a:r>
              <a:rPr lang="en-US" dirty="0"/>
              <a:t>R. S. </a:t>
            </a:r>
            <a:r>
              <a:rPr lang="en-US" dirty="0" err="1"/>
              <a:t>Pramila</a:t>
            </a:r>
            <a:r>
              <a:rPr lang="en-US" dirty="0"/>
              <a:t>, “A Survey on Effective in-Home Health Monitoring System,” Int. J. </a:t>
            </a:r>
            <a:r>
              <a:rPr lang="en-US" dirty="0" err="1"/>
              <a:t>Comput</a:t>
            </a:r>
            <a:r>
              <a:rPr lang="en-US" dirty="0"/>
              <a:t>. Appl., vol. 68, no. 7, pp. 15–19, 2013</a:t>
            </a:r>
            <a:r>
              <a:rPr lang="en-US" dirty="0" smtClean="0"/>
              <a:t>.</a:t>
            </a:r>
          </a:p>
          <a:p>
            <a:pPr marL="342900" lvl="0" indent="-342900">
              <a:buFont typeface="+mj-lt"/>
              <a:buAutoNum type="arabicPeriod"/>
            </a:pPr>
            <a:r>
              <a:rPr lang="en-US" dirty="0"/>
              <a:t>R. S. </a:t>
            </a:r>
            <a:r>
              <a:rPr lang="en-US" dirty="0" err="1"/>
              <a:t>Pramila</a:t>
            </a:r>
            <a:r>
              <a:rPr lang="en-US" dirty="0"/>
              <a:t>, “A Survey on Effective in-Home Health Monitoring System,” Int. J. </a:t>
            </a:r>
            <a:r>
              <a:rPr lang="en-US" dirty="0" err="1"/>
              <a:t>Comput</a:t>
            </a:r>
            <a:r>
              <a:rPr lang="en-US" dirty="0"/>
              <a:t>. Appl., vol. 68, no. 7, pp. 15–19, 2013.</a:t>
            </a:r>
            <a:endParaRPr lang="en-IN" b="1" u="sng" dirty="0" smtClean="0">
              <a:hlinkClick r:id="rId4"/>
            </a:endParaRPr>
          </a:p>
          <a:p>
            <a:pPr marL="342900" lvl="0" indent="-342900">
              <a:buFont typeface="+mj-lt"/>
              <a:buAutoNum type="arabicPeriod"/>
            </a:pPr>
            <a:r>
              <a:rPr lang="en-IN" b="1" u="sng" dirty="0" smtClean="0">
                <a:hlinkClick r:id="rId4"/>
              </a:rPr>
              <a:t>www.projecthub.com</a:t>
            </a:r>
            <a:endParaRPr lang="en-IN" dirty="0" smtClean="0"/>
          </a:p>
          <a:p>
            <a:pPr marL="342900" lvl="0" indent="-342900">
              <a:buFont typeface="+mj-lt"/>
              <a:buAutoNum type="arabicPeriod"/>
            </a:pPr>
            <a:r>
              <a:rPr lang="en-IN" dirty="0" smtClean="0"/>
              <a:t>Celal </a:t>
            </a:r>
            <a:r>
              <a:rPr lang="en-IN" dirty="0"/>
              <a:t>Bayar University Journal of Science Volume 14, Issue 3, </a:t>
            </a:r>
            <a:r>
              <a:rPr lang="en-IN" dirty="0" smtClean="0"/>
              <a:t>2018</a:t>
            </a:r>
          </a:p>
          <a:p>
            <a:pPr marL="342900" lvl="0" indent="-342900">
              <a:buFont typeface="+mj-lt"/>
              <a:buAutoNum type="arabicPeriod"/>
            </a:pPr>
            <a:r>
              <a:rPr lang="en-IN" b="1" dirty="0" smtClean="0"/>
              <a:t>ieeexplore.ieee.org</a:t>
            </a:r>
            <a:endParaRPr lang="en-IN" dirty="0" smtClean="0"/>
          </a:p>
          <a:p>
            <a:pPr marL="342900" lvl="0" indent="-342900">
              <a:buFont typeface="+mj-lt"/>
              <a:buAutoNum type="arabicPeriod"/>
            </a:pPr>
            <a:r>
              <a:rPr lang="en-IN" b="1" u="sng" dirty="0" smtClean="0">
                <a:hlinkClick r:id="rId5"/>
              </a:rPr>
              <a:t>www.ijstr.org</a:t>
            </a:r>
            <a:endParaRPr lang="en-IN" dirty="0" smtClean="0"/>
          </a:p>
          <a:p>
            <a:pPr marL="342900" lvl="0" indent="-342900">
              <a:buFont typeface="+mj-lt"/>
              <a:buAutoNum type="arabicPeriod"/>
            </a:pPr>
            <a:r>
              <a:rPr lang="en-IN" dirty="0" smtClean="0">
                <a:hlinkClick r:id="rId6"/>
              </a:rPr>
              <a:t>www.ncbi.nlm.nlh.gov</a:t>
            </a:r>
            <a:endParaRPr lang="en-IN" dirty="0" smtClean="0"/>
          </a:p>
          <a:p>
            <a:pPr marL="342900" lvl="0" indent="-342900">
              <a:buFont typeface="+mj-lt"/>
              <a:buAutoNum type="arabicPeriod"/>
            </a:pPr>
            <a:r>
              <a:rPr lang="en-IN" dirty="0" smtClean="0"/>
              <a:t>Kakria</a:t>
            </a:r>
            <a:r>
              <a:rPr lang="en-IN" dirty="0"/>
              <a:t>, P., Tripathi, N. K., Kitipawang, P., A real-time health monitoring system for remote cardiac patients using smartphone and wearable sensors, International journal of telemedicine and applications, </a:t>
            </a:r>
            <a:r>
              <a:rPr lang="en-IN" dirty="0" smtClean="0"/>
              <a:t>2015</a:t>
            </a:r>
          </a:p>
          <a:p>
            <a:pPr marL="285750" lvl="0" indent="-285750">
              <a:buFont typeface="Arial" pitchFamily="34" charset="0"/>
              <a:buChar char="•"/>
            </a:pPr>
            <a:r>
              <a:rPr lang="en-IN" i="1" dirty="0" smtClean="0"/>
              <a:t>Remote </a:t>
            </a:r>
            <a:r>
              <a:rPr lang="en-IN" i="1" dirty="0"/>
              <a:t>Cardiac Patients Using Smartphone</a:t>
            </a:r>
            <a:r>
              <a:rPr lang="en-IN" dirty="0"/>
              <a:t> and </a:t>
            </a:r>
            <a:r>
              <a:rPr lang="en-IN" i="1" dirty="0"/>
              <a:t>Wearable Sensors</a:t>
            </a:r>
            <a:r>
              <a:rPr lang="en-IN" dirty="0"/>
              <a:t>. </a:t>
            </a:r>
            <a:r>
              <a:rPr lang="en-IN" i="1" dirty="0"/>
              <a:t>Int J</a:t>
            </a:r>
            <a:r>
              <a:rPr lang="en-IN" dirty="0"/>
              <a:t> Telemed Appl.</a:t>
            </a:r>
          </a:p>
          <a:p>
            <a:endParaRPr lang="en-IN" dirty="0"/>
          </a:p>
        </p:txBody>
      </p:sp>
      <p:sp>
        <p:nvSpPr>
          <p:cNvPr id="5" name="TextBox 4"/>
          <p:cNvSpPr txBox="1"/>
          <p:nvPr/>
        </p:nvSpPr>
        <p:spPr>
          <a:xfrm>
            <a:off x="323528" y="6093296"/>
            <a:ext cx="2232248" cy="646331"/>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wrap="square" rtlCol="0">
            <a:spAutoFit/>
          </a:bodyPr>
          <a:lstStyle/>
          <a:p>
            <a:r>
              <a:rPr lang="en-IN" dirty="0" smtClean="0"/>
              <a:t>Thursday</a:t>
            </a:r>
          </a:p>
          <a:p>
            <a:r>
              <a:rPr lang="en-IN" dirty="0" smtClean="0"/>
              <a:t>December 03,2020</a:t>
            </a:r>
          </a:p>
        </p:txBody>
      </p:sp>
      <p:sp>
        <p:nvSpPr>
          <p:cNvPr id="6" name="Rectangle 5"/>
          <p:cNvSpPr/>
          <p:nvPr/>
        </p:nvSpPr>
        <p:spPr>
          <a:xfrm>
            <a:off x="2987824" y="6093296"/>
            <a:ext cx="5184576" cy="646331"/>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wrap="square">
            <a:spAutoFit/>
          </a:bodyPr>
          <a:lstStyle/>
          <a:p>
            <a:r>
              <a:rPr lang="en-IN" b="1" dirty="0" smtClean="0"/>
              <a:t>Life Health Band – Health Monitoring System For       Elderly People.</a:t>
            </a:r>
          </a:p>
        </p:txBody>
      </p:sp>
      <p:cxnSp>
        <p:nvCxnSpPr>
          <p:cNvPr id="8" name="Straight Connector 7"/>
          <p:cNvCxnSpPr/>
          <p:nvPr/>
        </p:nvCxnSpPr>
        <p:spPr>
          <a:xfrm>
            <a:off x="0" y="1556792"/>
            <a:ext cx="9144000" cy="0"/>
          </a:xfrm>
          <a:prstGeom prst="line">
            <a:avLst/>
          </a:prstGeom>
          <a:ln w="19050"/>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3209075159"/>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5314602"/>
          </a:xfrm>
        </p:spPr>
        <p:txBody>
          <a:bodyPr>
            <a:normAutofit/>
            <a:scene3d>
              <a:camera prst="orthographicFront"/>
              <a:lightRig rig="flat" dir="t">
                <a:rot lat="0" lon="0" rev="18900000"/>
              </a:lightRig>
            </a:scene3d>
            <a:sp3d extrusionH="31750" contourW="6350" prstMaterial="powder">
              <a:bevelT w="19050" h="19050" prst="angle"/>
              <a:contourClr>
                <a:schemeClr val="accent3">
                  <a:tint val="100000"/>
                  <a:shade val="100000"/>
                  <a:satMod val="100000"/>
                  <a:hueMod val="100000"/>
                </a:schemeClr>
              </a:contourClr>
            </a:sp3d>
          </a:bodyPr>
          <a:lstStyle/>
          <a:p>
            <a:r>
              <a:rPr lang="en-IN" sz="7200" b="1" dirty="0" smtClean="0">
                <a:ln>
                  <a:solidFill>
                    <a:schemeClr val="tx1"/>
                  </a:solidFill>
                </a:ln>
                <a:solidFill>
                  <a:schemeClr val="accent3"/>
                </a:solidFill>
                <a:effectLst>
                  <a:outerShdw blurRad="50800" dist="38100" dir="16200000" rotWithShape="0">
                    <a:prstClr val="black">
                      <a:alpha val="40000"/>
                    </a:prstClr>
                  </a:outerShdw>
                </a:effectLst>
              </a:rPr>
              <a:t>THANK YOU…!</a:t>
            </a:r>
            <a:endParaRPr lang="en-IN" sz="7200" b="1" dirty="0">
              <a:ln>
                <a:solidFill>
                  <a:schemeClr val="tx1"/>
                </a:solidFill>
              </a:ln>
              <a:solidFill>
                <a:schemeClr val="accent3"/>
              </a:solidFill>
              <a:effectLst>
                <a:outerShdw blurRad="50800" dist="38100" dir="16200000" rotWithShape="0">
                  <a:prstClr val="black">
                    <a:alpha val="40000"/>
                  </a:prstClr>
                </a:outerShdw>
              </a:effectLst>
            </a:endParaRPr>
          </a:p>
        </p:txBody>
      </p:sp>
    </p:spTree>
    <p:extLst>
      <p:ext uri="{BB962C8B-B14F-4D97-AF65-F5344CB8AC3E}">
        <p14:creationId xmlns:p14="http://schemas.microsoft.com/office/powerpoint/2010/main" val="2289249591"/>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808</TotalTime>
  <Words>1974</Words>
  <Application>Microsoft Office PowerPoint</Application>
  <PresentationFormat>On-screen Show (4:3)</PresentationFormat>
  <Paragraphs>311</Paragraphs>
  <Slides>27</Slides>
  <Notes>1</Notes>
  <HiddenSlides>0</HiddenSlides>
  <MMClips>0</MMClips>
  <ScaleCrop>false</ScaleCrop>
  <HeadingPairs>
    <vt:vector size="4" baseType="variant">
      <vt:variant>
        <vt:lpstr>Theme</vt:lpstr>
      </vt:variant>
      <vt:variant>
        <vt:i4>1</vt:i4>
      </vt:variant>
      <vt:variant>
        <vt:lpstr>Slide Titles</vt:lpstr>
      </vt:variant>
      <vt:variant>
        <vt:i4>27</vt:i4>
      </vt:variant>
    </vt:vector>
  </HeadingPairs>
  <TitlesOfParts>
    <vt:vector size="28" baseType="lpstr">
      <vt:lpstr>Office Theme</vt:lpstr>
      <vt:lpstr>                                      Sinhgad College of Engineering, Pune – 41.                 Department of Electronics &amp;Telecommunication Engineering  </vt:lpstr>
      <vt:lpstr>OBJECTIVE</vt:lpstr>
      <vt:lpstr>             SPECIFICATIONS OF PROJECT</vt:lpstr>
      <vt:lpstr>LITERATURE SURVEY</vt:lpstr>
      <vt:lpstr>PowerPoint Presentation</vt:lpstr>
      <vt:lpstr>BLOCK DIAGRAM</vt:lpstr>
      <vt:lpstr>        HARDWARE AND SOFTWARE USED</vt:lpstr>
      <vt:lpstr>PowerPoint Presentation</vt:lpstr>
      <vt:lpstr>PowerPoint Presentation</vt:lpstr>
      <vt:lpstr>PowerPoint Presentation</vt:lpstr>
      <vt:lpstr>PowerPoint Presentation</vt:lpstr>
      <vt:lpstr>PowerPoint Presentation</vt:lpstr>
      <vt:lpstr>PowerPoint Presentation</vt:lpstr>
      <vt:lpstr>            MQTT For IOT Based Application</vt:lpstr>
      <vt:lpstr>PowerPoint Presentation</vt:lpstr>
      <vt:lpstr>WORKING</vt:lpstr>
      <vt:lpstr>PowerPoint Presentation</vt:lpstr>
      <vt:lpstr>PowerPoint Presentation</vt:lpstr>
      <vt:lpstr>CIRCUIT DIAGRAM</vt:lpstr>
      <vt:lpstr>RESULTS</vt:lpstr>
      <vt:lpstr>PowerPoint Presentation</vt:lpstr>
      <vt:lpstr>ADVANTAGES</vt:lpstr>
      <vt:lpstr>APPLICATIONS</vt:lpstr>
      <vt:lpstr>FUTURE SCOPE</vt:lpstr>
      <vt:lpstr>CONCLUSION</vt:lpstr>
      <vt:lpstr>REFERENCES</vt:lpstr>
      <vt:lpstr>THANK YOU…!</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Sinhgad College of Engineering, Pune – 41.                 Department of Electronics &amp;Telecommunication Engineering</dc:title>
  <dc:creator>sai</dc:creator>
  <cp:lastModifiedBy>sai</cp:lastModifiedBy>
  <cp:revision>82</cp:revision>
  <dcterms:created xsi:type="dcterms:W3CDTF">2020-12-02T18:26:24Z</dcterms:created>
  <dcterms:modified xsi:type="dcterms:W3CDTF">2021-05-02T09:31:52Z</dcterms:modified>
</cp:coreProperties>
</file>